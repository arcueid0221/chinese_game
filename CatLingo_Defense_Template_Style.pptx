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6" r:id="rId10"/>
    <p:sldId id="262" r:id="rId11"/>
    <p:sldId id="267" r:id="rId12"/>
    <p:sldId id="263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2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6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20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51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45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/template_media/image2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52" y="384048"/>
            <a:ext cx="2663952" cy="8412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6419088"/>
            <a:ext cx="11594592" cy="0"/>
          </a:xfrm>
          <a:prstGeom prst="line">
            <a:avLst/>
          </a:prstGeom>
          <a:noFill/>
          <a:ln w="15240">
            <a:solidFill>
              <a:srgbClr val="F2F7FA"/>
            </a:solidFill>
            <a:prstDash val="solid"/>
          </a:ln>
        </p:spPr>
      </p:sp>
      <p:pic>
        <p:nvPicPr>
          <p:cNvPr id="9" name="Picture 13" descr="b6db589c-7942-45dd-b976-168c70c0582a.jpg">
            <a:extLst>
              <a:ext uri="{FF2B5EF4-FFF2-40B4-BE49-F238E27FC236}">
                <a16:creationId xmlns:a16="http://schemas.microsoft.com/office/drawing/2014/main" id="{98512A25-983D-4D65-B794-F936D118E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223" b="92090" l="5469" r="91016">
                        <a14:foregroundMark x1="33594" y1="82715" x2="40820" y2="84863"/>
                        <a14:foregroundMark x1="19336" y1="88477" x2="47754" y2="87207"/>
                        <a14:foregroundMark x1="91113" y1="79785" x2="83691" y2="88086"/>
                        <a14:foregroundMark x1="69238" y1="92090" x2="72852" y2="91699"/>
                        <a14:backgroundMark x1="5762" y1="391" x2="5957" y2="52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7563" y="1435608"/>
            <a:ext cx="3337560" cy="333756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D363F3B-A5DD-48DD-98E0-8780FE7B7E71}"/>
              </a:ext>
            </a:extLst>
          </p:cNvPr>
          <p:cNvSpPr txBox="1"/>
          <p:nvPr/>
        </p:nvSpPr>
        <p:spPr>
          <a:xfrm>
            <a:off x="1143000" y="2417836"/>
            <a:ext cx="6651373" cy="502702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r>
              <a:rPr lang="en-US" altLang="zh-CN" sz="3100" b="1" dirty="0">
                <a:solidFill>
                  <a:srgbClr val="FFFFFF"/>
                </a:solidFill>
                <a:latin typeface="Arial" panose="020B0604020202020204" pitchFamily="34" charset="0"/>
              </a:rPr>
              <a:t>Android Chinese Words Game App</a:t>
            </a:r>
            <a:endParaRPr lang="zh-CN" altLang="en-US" sz="31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5BB7AA-7AC5-4EFE-841D-012B7DE40F24}"/>
              </a:ext>
            </a:extLst>
          </p:cNvPr>
          <p:cNvSpPr txBox="1"/>
          <p:nvPr/>
        </p:nvSpPr>
        <p:spPr>
          <a:xfrm>
            <a:off x="1143000" y="3054199"/>
            <a:ext cx="2016514" cy="241092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</a:rPr>
              <a:t>Final Viva Presentation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998DFB-F697-4D38-9F17-CCCCE3E832AB}"/>
              </a:ext>
            </a:extLst>
          </p:cNvPr>
          <p:cNvSpPr txBox="1"/>
          <p:nvPr/>
        </p:nvSpPr>
        <p:spPr>
          <a:xfrm>
            <a:off x="1143000" y="4521200"/>
            <a:ext cx="4139916" cy="671979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latin typeface="Arial" panose="020B0604020202020204" pitchFamily="34" charset="0"/>
              </a:rPr>
              <a:t>Liu Weiliang</a:t>
            </a:r>
          </a:p>
          <a:p>
            <a:r>
              <a:rPr lang="en-US" altLang="zh-CN" sz="1400">
                <a:solidFill>
                  <a:srgbClr val="FFFFFF"/>
                </a:solidFill>
                <a:latin typeface="Arial" panose="020B0604020202020204" pitchFamily="34" charset="0"/>
              </a:rPr>
              <a:t>Telecommunications Engineering with Management</a:t>
            </a:r>
          </a:p>
          <a:p>
            <a:r>
              <a:rPr lang="en-US" altLang="zh-CN" sz="1400">
                <a:solidFill>
                  <a:srgbClr val="FFFFFF"/>
                </a:solidFill>
                <a:latin typeface="Arial" panose="020B0604020202020204" pitchFamily="34" charset="0"/>
              </a:rPr>
              <a:t>BUPT / QMUL · 2025/26</a:t>
            </a:r>
            <a:endParaRPr lang="zh-CN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DDCA25-2DC3-4DC6-850E-1D4925658019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5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17" name="Picture 12" descr="8a7c0663-f7b2-4937-9eb5-b4aeb9d07c89_no_bg.png">
            <a:extLst>
              <a:ext uri="{FF2B5EF4-FFF2-40B4-BE49-F238E27FC236}">
                <a16:creationId xmlns:a16="http://schemas.microsoft.com/office/drawing/2014/main" id="{5B63F4DF-6AA4-41A6-A741-B8D2AD466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BCAA1D-A882-45F0-9E59-F88FAA1668A7}"/>
              </a:ext>
            </a:extLst>
          </p:cNvPr>
          <p:cNvSpPr txBox="1"/>
          <p:nvPr/>
        </p:nvSpPr>
        <p:spPr>
          <a:xfrm>
            <a:off x="609600" y="254000"/>
            <a:ext cx="10972800" cy="5027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Background, Problem, and Objectives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31048F-0C4D-4009-B622-BC9838A11BC6}"/>
              </a:ext>
            </a:extLst>
          </p:cNvPr>
          <p:cNvSpPr txBox="1"/>
          <p:nvPr/>
        </p:nvSpPr>
        <p:spPr>
          <a:xfrm>
            <a:off x="1016000" y="711200"/>
            <a:ext cx="10160000" cy="31034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What CatLingo tries to solve and what the final system delivers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DFA7CF8-0ED0-4431-B4DF-E6B71672179B}"/>
              </a:ext>
            </a:extLst>
          </p:cNvPr>
          <p:cNvSpPr/>
          <p:nvPr/>
        </p:nvSpPr>
        <p:spPr>
          <a:xfrm>
            <a:off x="787400" y="1219200"/>
            <a:ext cx="4953000" cy="36322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D138CAE-5142-492F-8A38-FB84779C91C9}"/>
              </a:ext>
            </a:extLst>
          </p:cNvPr>
          <p:cNvSpPr/>
          <p:nvPr/>
        </p:nvSpPr>
        <p:spPr>
          <a:xfrm>
            <a:off x="1143000" y="1041400"/>
            <a:ext cx="16256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Problem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BF6505-EAED-41B8-97B4-2819161D1AC5}"/>
              </a:ext>
            </a:extLst>
          </p:cNvPr>
          <p:cNvSpPr txBox="1"/>
          <p:nvPr/>
        </p:nvSpPr>
        <p:spPr>
          <a:xfrm>
            <a:off x="1143000" y="1574800"/>
            <a:ext cx="4140200" cy="2585323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Existing tools often separate character, pronunciation, and sentence practice.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Learners need repeated feedback, not only static vocabulary display.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Progress should be visible across sessions.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4A17FF-71AD-4D2B-9642-105D9F20EBC0}"/>
              </a:ext>
            </a:extLst>
          </p:cNvPr>
          <p:cNvSpPr txBox="1"/>
          <p:nvPr/>
        </p:nvSpPr>
        <p:spPr>
          <a:xfrm>
            <a:off x="1422400" y="4140200"/>
            <a:ext cx="3556000" cy="57964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550" b="1">
                <a:solidFill>
                  <a:srgbClr val="1C375F"/>
                </a:solidFill>
                <a:latin typeface="Arial" panose="020B0604020202020204" pitchFamily="34" charset="0"/>
              </a:rPr>
              <a:t>Target: beginner/intermediate</a:t>
            </a:r>
          </a:p>
          <a:p>
            <a:pPr algn="ctr"/>
            <a:r>
              <a:rPr lang="en-US" altLang="zh-CN" sz="1550" b="1">
                <a:solidFill>
                  <a:srgbClr val="1C375F"/>
                </a:solidFill>
                <a:latin typeface="Arial" panose="020B0604020202020204" pitchFamily="34" charset="0"/>
              </a:rPr>
              <a:t>Android Chinese learners</a:t>
            </a:r>
            <a:endParaRPr lang="zh-CN" altLang="en-US" sz="1550" b="1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20DB259-89F4-4BB3-A87E-91D2B97DBD84}"/>
              </a:ext>
            </a:extLst>
          </p:cNvPr>
          <p:cNvSpPr/>
          <p:nvPr/>
        </p:nvSpPr>
        <p:spPr>
          <a:xfrm>
            <a:off x="6350000" y="1219200"/>
            <a:ext cx="5054600" cy="36322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8ECDB8-57E9-47B4-A9E8-F9BC7253EC76}"/>
              </a:ext>
            </a:extLst>
          </p:cNvPr>
          <p:cNvSpPr/>
          <p:nvPr/>
        </p:nvSpPr>
        <p:spPr>
          <a:xfrm>
            <a:off x="6705600" y="1041400"/>
            <a:ext cx="18034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Objectives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37CD7F-A68A-471C-B645-7F523BC38A4F}"/>
              </a:ext>
            </a:extLst>
          </p:cNvPr>
          <p:cNvSpPr txBox="1"/>
          <p:nvPr/>
        </p:nvSpPr>
        <p:spPr>
          <a:xfrm>
            <a:off x="6705600" y="1574800"/>
            <a:ext cx="4216400" cy="286232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1. Build a native Android learning app.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2. Implement three mini-games with different language skills.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3. Store scores, question details, achievements, and progress locally.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4. Keep the system maintainable and explainable.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EE4629-0CFA-4615-9C3E-23FC57E59C7A}"/>
              </a:ext>
            </a:extLst>
          </p:cNvPr>
          <p:cNvSpPr txBox="1"/>
          <p:nvPr/>
        </p:nvSpPr>
        <p:spPr>
          <a:xfrm>
            <a:off x="1524000" y="5207000"/>
            <a:ext cx="9144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Core message: the project is an integrated Android prototype, not three isolated demos.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C43591-345E-460F-9A75-2A383EEBBCED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6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38" name="Picture 12" descr="8a7c0663-f7b2-4937-9eb5-b4aeb9d07c89_no_bg.png">
            <a:extLst>
              <a:ext uri="{FF2B5EF4-FFF2-40B4-BE49-F238E27FC236}">
                <a16:creationId xmlns:a16="http://schemas.microsoft.com/office/drawing/2014/main" id="{A38BC56A-FCEE-407A-844B-967D0AE90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9CC986F-2B40-4987-8C69-067933364F38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System Overview: Game Technologies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11DCE1-D9A4-4343-BB6F-886A95054112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Each mini-game has a learning goal and a concrete implementation technique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91446A-FB83-4E73-A441-2D391E77A331}"/>
              </a:ext>
            </a:extLst>
          </p:cNvPr>
          <p:cNvSpPr/>
          <p:nvPr/>
        </p:nvSpPr>
        <p:spPr>
          <a:xfrm>
            <a:off x="736600" y="1320799"/>
            <a:ext cx="3429000" cy="3363283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365572-1E72-40B9-BF48-357EBE0651FA}"/>
              </a:ext>
            </a:extLst>
          </p:cNvPr>
          <p:cNvSpPr txBox="1"/>
          <p:nvPr/>
        </p:nvSpPr>
        <p:spPr>
          <a:xfrm>
            <a:off x="914400" y="1549400"/>
            <a:ext cx="30734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1F4180"/>
                </a:solidFill>
                <a:latin typeface="Arial" panose="020B0604020202020204" pitchFamily="34" charset="0"/>
              </a:rPr>
              <a:t>Character Matching</a:t>
            </a:r>
            <a:endParaRPr lang="zh-CN" altLang="en-US" sz="20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22298A-25AD-4316-9499-B4DDA77110F8}"/>
              </a:ext>
            </a:extLst>
          </p:cNvPr>
          <p:cNvSpPr txBox="1"/>
          <p:nvPr/>
        </p:nvSpPr>
        <p:spPr>
          <a:xfrm>
            <a:off x="1066800" y="2159000"/>
            <a:ext cx="27686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>
                <a:solidFill>
                  <a:srgbClr val="1C375F"/>
                </a:solidFill>
                <a:latin typeface="Arial" panose="020B0604020202020204" pitchFamily="34" charset="0"/>
              </a:rPr>
              <a:t>Pinyin-to-character recognition</a:t>
            </a:r>
            <a:endParaRPr lang="zh-CN" altLang="en-US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5F6DDA7-EF2E-4A42-B628-D0A0A335C5CE}"/>
              </a:ext>
            </a:extLst>
          </p:cNvPr>
          <p:cNvSpPr/>
          <p:nvPr/>
        </p:nvSpPr>
        <p:spPr>
          <a:xfrm>
            <a:off x="1371600" y="2870200"/>
            <a:ext cx="2159000" cy="3302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Core technology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E86700-B792-48A3-96F8-334C83A73EB9}"/>
              </a:ext>
            </a:extLst>
          </p:cNvPr>
          <p:cNvSpPr txBox="1"/>
          <p:nvPr/>
        </p:nvSpPr>
        <p:spPr>
          <a:xfrm>
            <a:off x="1181100" y="3378200"/>
            <a:ext cx="2667000" cy="120032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SQLite random selection</a:t>
            </a:r>
          </a:p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DAO question loading</a:t>
            </a:r>
          </a:p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POS-tag distractors</a:t>
            </a:r>
            <a:endParaRPr lang="zh-CN" altLang="en-US" sz="175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C1CDE09-F827-407C-BECD-8178219971F7}"/>
              </a:ext>
            </a:extLst>
          </p:cNvPr>
          <p:cNvSpPr/>
          <p:nvPr/>
        </p:nvSpPr>
        <p:spPr>
          <a:xfrm>
            <a:off x="4394200" y="1320800"/>
            <a:ext cx="3429000" cy="3363282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A69A72-7BC3-4485-B55D-162BA8407878}"/>
              </a:ext>
            </a:extLst>
          </p:cNvPr>
          <p:cNvSpPr txBox="1"/>
          <p:nvPr/>
        </p:nvSpPr>
        <p:spPr>
          <a:xfrm>
            <a:off x="4572000" y="1549400"/>
            <a:ext cx="30734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1F4180"/>
                </a:solidFill>
                <a:latin typeface="Arial" panose="020B0604020202020204" pitchFamily="34" charset="0"/>
              </a:rPr>
              <a:t>Pronunciation Quiz</a:t>
            </a:r>
            <a:endParaRPr lang="zh-CN" altLang="en-US" sz="20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DB8D09-6C2D-4140-9332-908497ADA21C}"/>
              </a:ext>
            </a:extLst>
          </p:cNvPr>
          <p:cNvSpPr txBox="1"/>
          <p:nvPr/>
        </p:nvSpPr>
        <p:spPr>
          <a:xfrm>
            <a:off x="4724400" y="2159000"/>
            <a:ext cx="27686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>
                <a:solidFill>
                  <a:srgbClr val="1C375F"/>
                </a:solidFill>
                <a:latin typeface="Arial" panose="020B0604020202020204" pitchFamily="34" charset="0"/>
              </a:rPr>
              <a:t>Spoken Chinese practice</a:t>
            </a:r>
            <a:endParaRPr lang="zh-CN" altLang="en-US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B40E2C4-B945-449D-82DA-83737F193A10}"/>
              </a:ext>
            </a:extLst>
          </p:cNvPr>
          <p:cNvSpPr/>
          <p:nvPr/>
        </p:nvSpPr>
        <p:spPr>
          <a:xfrm>
            <a:off x="5029200" y="2870200"/>
            <a:ext cx="2159000" cy="3302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Core technology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E08A78-B01F-477D-9A81-47168CBD95AB}"/>
              </a:ext>
            </a:extLst>
          </p:cNvPr>
          <p:cNvSpPr txBox="1"/>
          <p:nvPr/>
        </p:nvSpPr>
        <p:spPr>
          <a:xfrm>
            <a:off x="4838700" y="3378200"/>
            <a:ext cx="2667000" cy="92333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50" dirty="0">
                <a:solidFill>
                  <a:srgbClr val="1F4180"/>
                </a:solidFill>
                <a:latin typeface="Arial" panose="020B0604020202020204" pitchFamily="34" charset="0"/>
              </a:rPr>
              <a:t>• </a:t>
            </a:r>
            <a:r>
              <a:rPr lang="en-US" altLang="zh-CN" sz="1750" dirty="0" err="1">
                <a:solidFill>
                  <a:srgbClr val="1F4180"/>
                </a:solidFill>
                <a:latin typeface="Arial" panose="020B0604020202020204" pitchFamily="34" charset="0"/>
              </a:rPr>
              <a:t>iFLYTEK</a:t>
            </a:r>
            <a:r>
              <a:rPr lang="en-US" altLang="zh-CN" sz="1750" dirty="0">
                <a:solidFill>
                  <a:srgbClr val="1F4180"/>
                </a:solidFill>
                <a:latin typeface="Arial" panose="020B0604020202020204" pitchFamily="34" charset="0"/>
              </a:rPr>
              <a:t> ISE scoring</a:t>
            </a:r>
          </a:p>
          <a:p>
            <a:r>
              <a:rPr lang="en-US" altLang="zh-CN" sz="1750" dirty="0">
                <a:solidFill>
                  <a:srgbClr val="1F4180"/>
                </a:solidFill>
                <a:latin typeface="Arial" panose="020B0604020202020204" pitchFamily="34" charset="0"/>
              </a:rPr>
              <a:t>• Microphone workflow</a:t>
            </a:r>
          </a:p>
          <a:p>
            <a:r>
              <a:rPr lang="en-US" altLang="zh-CN" sz="1750" dirty="0">
                <a:solidFill>
                  <a:srgbClr val="1F4180"/>
                </a:solidFill>
                <a:latin typeface="Arial" panose="020B0604020202020204" pitchFamily="34" charset="0"/>
              </a:rPr>
              <a:t>• Score mapping</a:t>
            </a:r>
            <a:endParaRPr lang="zh-CN" altLang="en-US" sz="17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6B83245-71BF-46D8-858A-CEB123944A66}"/>
              </a:ext>
            </a:extLst>
          </p:cNvPr>
          <p:cNvSpPr/>
          <p:nvPr/>
        </p:nvSpPr>
        <p:spPr>
          <a:xfrm>
            <a:off x="8051800" y="1320800"/>
            <a:ext cx="3429000" cy="3334020"/>
          </a:xfrm>
          <a:prstGeom prst="roundRect">
            <a:avLst/>
          </a:prstGeom>
          <a:solidFill>
            <a:srgbClr val="FFF7ED"/>
          </a:solidFill>
          <a:ln w="14605">
            <a:solidFill>
              <a:srgbClr val="E5D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BE8B47-DAB6-4CDB-AAF8-0F89383D2131}"/>
              </a:ext>
            </a:extLst>
          </p:cNvPr>
          <p:cNvSpPr txBox="1"/>
          <p:nvPr/>
        </p:nvSpPr>
        <p:spPr>
          <a:xfrm>
            <a:off x="8229600" y="1549400"/>
            <a:ext cx="30734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1F4180"/>
                </a:solidFill>
                <a:latin typeface="Arial" panose="020B0604020202020204" pitchFamily="34" charset="0"/>
              </a:rPr>
              <a:t>Word Puzzle</a:t>
            </a:r>
            <a:endParaRPr lang="zh-CN" altLang="en-US" sz="20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B27DF4-DE0A-498F-A006-4CFB6D79084C}"/>
              </a:ext>
            </a:extLst>
          </p:cNvPr>
          <p:cNvSpPr txBox="1"/>
          <p:nvPr/>
        </p:nvSpPr>
        <p:spPr>
          <a:xfrm>
            <a:off x="8382000" y="2159000"/>
            <a:ext cx="27686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>
                <a:solidFill>
                  <a:srgbClr val="1C375F"/>
                </a:solidFill>
                <a:latin typeface="Arial" panose="020B0604020202020204" pitchFamily="34" charset="0"/>
              </a:rPr>
              <a:t>Sentence order and meaning</a:t>
            </a:r>
            <a:endParaRPr lang="zh-CN" altLang="en-US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5F4A896-E45E-4FFC-8C49-A4645322EE4A}"/>
              </a:ext>
            </a:extLst>
          </p:cNvPr>
          <p:cNvSpPr/>
          <p:nvPr/>
        </p:nvSpPr>
        <p:spPr>
          <a:xfrm>
            <a:off x="8686800" y="2870200"/>
            <a:ext cx="2159000" cy="3302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Core technology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49B549-CFAA-43CA-AC82-4C305638983B}"/>
              </a:ext>
            </a:extLst>
          </p:cNvPr>
          <p:cNvSpPr txBox="1"/>
          <p:nvPr/>
        </p:nvSpPr>
        <p:spPr>
          <a:xfrm>
            <a:off x="8496300" y="3378200"/>
            <a:ext cx="2667000" cy="133583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SQLite sentence tokens</a:t>
            </a:r>
          </a:p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HanLP preprocessing</a:t>
            </a:r>
          </a:p>
          <a:p>
            <a:r>
              <a:rPr lang="en-US" altLang="zh-CN" sz="1750">
                <a:solidFill>
                  <a:srgbClr val="1F4180"/>
                </a:solidFill>
                <a:latin typeface="Arial" panose="020B0604020202020204" pitchFamily="34" charset="0"/>
              </a:rPr>
              <a:t>• Reorder / blank mode</a:t>
            </a:r>
            <a:endParaRPr lang="zh-CN" altLang="en-US" sz="175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9A34F9-F1AF-4CCB-869E-96B9FAB2B5DF}"/>
              </a:ext>
            </a:extLst>
          </p:cNvPr>
          <p:cNvSpPr txBox="1"/>
          <p:nvPr/>
        </p:nvSpPr>
        <p:spPr>
          <a:xfrm>
            <a:off x="1016000" y="5013251"/>
            <a:ext cx="190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Shared workflow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24CBB3C-DB80-45E4-B5D2-7976DA9D0882}"/>
              </a:ext>
            </a:extLst>
          </p:cNvPr>
          <p:cNvSpPr/>
          <p:nvPr/>
        </p:nvSpPr>
        <p:spPr>
          <a:xfrm>
            <a:off x="29718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Login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2550369-7089-4AE5-A869-10A8E62ED8B5}"/>
              </a:ext>
            </a:extLst>
          </p:cNvPr>
          <p:cNvSpPr/>
          <p:nvPr/>
        </p:nvSpPr>
        <p:spPr>
          <a:xfrm>
            <a:off x="43434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Select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C27EE6B-AEA8-42B9-BE3E-016AC2E814A0}"/>
              </a:ext>
            </a:extLst>
          </p:cNvPr>
          <p:cNvSpPr/>
          <p:nvPr/>
        </p:nvSpPr>
        <p:spPr>
          <a:xfrm>
            <a:off x="57150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Difficulty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648473D-380C-44FC-AF1A-26CA0C51A4E5}"/>
              </a:ext>
            </a:extLst>
          </p:cNvPr>
          <p:cNvSpPr/>
          <p:nvPr/>
        </p:nvSpPr>
        <p:spPr>
          <a:xfrm>
            <a:off x="70866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Play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26BB5FB-0662-442E-A6B9-27474EFEE85F}"/>
              </a:ext>
            </a:extLst>
          </p:cNvPr>
          <p:cNvSpPr/>
          <p:nvPr/>
        </p:nvSpPr>
        <p:spPr>
          <a:xfrm>
            <a:off x="84582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Store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C7D6C8A-66B4-4F5B-9F93-0A58C4BC7DAB}"/>
              </a:ext>
            </a:extLst>
          </p:cNvPr>
          <p:cNvSpPr/>
          <p:nvPr/>
        </p:nvSpPr>
        <p:spPr>
          <a:xfrm>
            <a:off x="9829800" y="4924351"/>
            <a:ext cx="1219200" cy="431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Review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FE33D2-91CD-437C-93F4-DBF2AFF36757}"/>
              </a:ext>
            </a:extLst>
          </p:cNvPr>
          <p:cNvSpPr txBox="1"/>
          <p:nvPr/>
        </p:nvSpPr>
        <p:spPr>
          <a:xfrm>
            <a:off x="1879600" y="5622851"/>
            <a:ext cx="8382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700">
                <a:solidFill>
                  <a:srgbClr val="536482"/>
                </a:solidFill>
                <a:latin typeface="Arial" panose="020B0604020202020204" pitchFamily="34" charset="0"/>
              </a:rPr>
              <a:t>All three games write comparable session scores and question-level records.</a:t>
            </a:r>
            <a:endParaRPr lang="zh-CN" altLang="en-US" sz="170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F547C8-7014-4EE1-AE44-96B67F91E3A0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4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46" name="Picture 12" descr="8a7c0663-f7b2-4937-9eb5-b4aeb9d07c89_no_bg.png">
            <a:extLst>
              <a:ext uri="{FF2B5EF4-FFF2-40B4-BE49-F238E27FC236}">
                <a16:creationId xmlns:a16="http://schemas.microsoft.com/office/drawing/2014/main" id="{373977A3-E986-4424-B002-9929DC7A5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D3DBA4D-B7CE-49E1-8D1F-DF77AAAA4CD2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Architecture and Technology Stack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255343-30C1-4822-AD64-DBF0B3EF6312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Native Android layers connect UI, gameplay, persistence, and services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641A0B5-188F-4E84-A0E9-BE468ABFD0DB}"/>
              </a:ext>
            </a:extLst>
          </p:cNvPr>
          <p:cNvSpPr/>
          <p:nvPr/>
        </p:nvSpPr>
        <p:spPr>
          <a:xfrm>
            <a:off x="838200" y="1244600"/>
            <a:ext cx="6858000" cy="39878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AF6F054-8C36-49AB-889D-ECA2B8BF2705}"/>
              </a:ext>
            </a:extLst>
          </p:cNvPr>
          <p:cNvSpPr/>
          <p:nvPr/>
        </p:nvSpPr>
        <p:spPr>
          <a:xfrm>
            <a:off x="1143000" y="1066800"/>
            <a:ext cx="23622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Runtime layers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05A97E3-06CC-445F-9C82-526C33DF937F}"/>
              </a:ext>
            </a:extLst>
          </p:cNvPr>
          <p:cNvSpPr/>
          <p:nvPr/>
        </p:nvSpPr>
        <p:spPr>
          <a:xfrm>
            <a:off x="1193800" y="1625600"/>
            <a:ext cx="6096000" cy="584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063EC5B-54AA-4271-8A93-2AB13E97A50F}"/>
              </a:ext>
            </a:extLst>
          </p:cNvPr>
          <p:cNvSpPr txBox="1"/>
          <p:nvPr/>
        </p:nvSpPr>
        <p:spPr>
          <a:xfrm>
            <a:off x="1422400" y="1752600"/>
            <a:ext cx="190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UI layer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6C3A267-2BA1-462C-912F-368BC4B0E4D9}"/>
              </a:ext>
            </a:extLst>
          </p:cNvPr>
          <p:cNvSpPr txBox="1"/>
          <p:nvPr/>
        </p:nvSpPr>
        <p:spPr>
          <a:xfrm>
            <a:off x="3632200" y="1752600"/>
            <a:ext cx="317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Activities + XML layouts</a:t>
            </a:r>
            <a:endParaRPr lang="zh-CN" altLang="en-US" sz="170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E88252D-4429-497B-9FC3-2E2B36B0AB3E}"/>
              </a:ext>
            </a:extLst>
          </p:cNvPr>
          <p:cNvSpPr/>
          <p:nvPr/>
        </p:nvSpPr>
        <p:spPr>
          <a:xfrm>
            <a:off x="1193800" y="2413000"/>
            <a:ext cx="6096000" cy="584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AEC07E0-B5AC-4223-84CA-246AEE49E21B}"/>
              </a:ext>
            </a:extLst>
          </p:cNvPr>
          <p:cNvSpPr txBox="1"/>
          <p:nvPr/>
        </p:nvSpPr>
        <p:spPr>
          <a:xfrm>
            <a:off x="1422400" y="2540000"/>
            <a:ext cx="190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Game control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F65D679-0B84-4E94-9830-9AF791651C69}"/>
              </a:ext>
            </a:extLst>
          </p:cNvPr>
          <p:cNvSpPr txBox="1"/>
          <p:nvPr/>
        </p:nvSpPr>
        <p:spPr>
          <a:xfrm>
            <a:off x="3632200" y="2401500"/>
            <a:ext cx="3175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00" dirty="0" err="1">
                <a:solidFill>
                  <a:srgbClr val="1C375F"/>
                </a:solidFill>
                <a:latin typeface="Arial" panose="020B0604020202020204" pitchFamily="34" charset="0"/>
              </a:rPr>
              <a:t>GameActivity</a:t>
            </a:r>
            <a:r>
              <a:rPr lang="en-US" altLang="zh-CN" sz="1700" dirty="0">
                <a:solidFill>
                  <a:srgbClr val="1C375F"/>
                </a:solidFill>
                <a:latin typeface="Arial" panose="020B0604020202020204" pitchFamily="34" charset="0"/>
              </a:rPr>
              <a:t> dispatches the three modes</a:t>
            </a:r>
            <a:endParaRPr lang="zh-CN" altLang="en-US" sz="1700" dirty="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83725BE-A2B6-47FF-8AAC-6920D9553769}"/>
              </a:ext>
            </a:extLst>
          </p:cNvPr>
          <p:cNvSpPr/>
          <p:nvPr/>
        </p:nvSpPr>
        <p:spPr>
          <a:xfrm>
            <a:off x="1193800" y="3200400"/>
            <a:ext cx="6096000" cy="584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6FB4F9-C77C-4EEF-B255-48513819F40C}"/>
              </a:ext>
            </a:extLst>
          </p:cNvPr>
          <p:cNvSpPr txBox="1"/>
          <p:nvPr/>
        </p:nvSpPr>
        <p:spPr>
          <a:xfrm>
            <a:off x="1422400" y="3327400"/>
            <a:ext cx="190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Persistence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AD618BC-1066-43A5-A5D7-935323FB7E5D}"/>
              </a:ext>
            </a:extLst>
          </p:cNvPr>
          <p:cNvSpPr txBox="1"/>
          <p:nvPr/>
        </p:nvSpPr>
        <p:spPr>
          <a:xfrm>
            <a:off x="3632200" y="3327400"/>
            <a:ext cx="317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DAO classes + SQLite tables</a:t>
            </a:r>
            <a:endParaRPr lang="zh-CN" altLang="en-US" sz="170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351081C-A506-45D2-A1F3-75BEF32263A1}"/>
              </a:ext>
            </a:extLst>
          </p:cNvPr>
          <p:cNvSpPr/>
          <p:nvPr/>
        </p:nvSpPr>
        <p:spPr>
          <a:xfrm>
            <a:off x="1193800" y="3987800"/>
            <a:ext cx="6096000" cy="584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369008-CA67-4E4F-B99F-8F528EEE8E2A}"/>
              </a:ext>
            </a:extLst>
          </p:cNvPr>
          <p:cNvSpPr txBox="1"/>
          <p:nvPr/>
        </p:nvSpPr>
        <p:spPr>
          <a:xfrm>
            <a:off x="1422400" y="4114800"/>
            <a:ext cx="1905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Services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1BC1CCB-3CEC-4BC2-B42C-5D7FED22BA6F}"/>
              </a:ext>
            </a:extLst>
          </p:cNvPr>
          <p:cNvSpPr txBox="1"/>
          <p:nvPr/>
        </p:nvSpPr>
        <p:spPr>
          <a:xfrm>
            <a:off x="3632200" y="4114800"/>
            <a:ext cx="3175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iFLYTEK ISE, HanLP, pinyin4j</a:t>
            </a:r>
            <a:endParaRPr lang="zh-CN" altLang="en-US" sz="170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EB1A499-13F0-4F55-BDA8-07BB3CAA5A44}"/>
              </a:ext>
            </a:extLst>
          </p:cNvPr>
          <p:cNvSpPr/>
          <p:nvPr/>
        </p:nvSpPr>
        <p:spPr>
          <a:xfrm>
            <a:off x="8102600" y="1244600"/>
            <a:ext cx="3175000" cy="39878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EEA00BC-4A9B-47AC-868E-129B1309C939}"/>
              </a:ext>
            </a:extLst>
          </p:cNvPr>
          <p:cNvSpPr/>
          <p:nvPr/>
        </p:nvSpPr>
        <p:spPr>
          <a:xfrm>
            <a:off x="8331200" y="1066800"/>
            <a:ext cx="20828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Main stack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B834D4-F265-4AC8-9277-E597A624B382}"/>
              </a:ext>
            </a:extLst>
          </p:cNvPr>
          <p:cNvSpPr txBox="1"/>
          <p:nvPr/>
        </p:nvSpPr>
        <p:spPr>
          <a:xfrm>
            <a:off x="8432800" y="1651000"/>
            <a:ext cx="2413000" cy="175432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Java 11</a:t>
            </a: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XML UI</a:t>
            </a: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SQLite + DAO</a:t>
            </a: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JSON import</a:t>
            </a: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HanLP / pinyin4j</a:t>
            </a: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iFLYTEK ISE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3F7FEF7-3415-40D7-B57E-7B13A37F256A}"/>
              </a:ext>
            </a:extLst>
          </p:cNvPr>
          <p:cNvSpPr txBox="1"/>
          <p:nvPr/>
        </p:nvSpPr>
        <p:spPr>
          <a:xfrm>
            <a:off x="8308109" y="3569394"/>
            <a:ext cx="2794000" cy="147732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b="1" dirty="0">
                <a:solidFill>
                  <a:srgbClr val="1C375F"/>
                </a:solidFill>
                <a:latin typeface="Arial" panose="020B0604020202020204" pitchFamily="34" charset="0"/>
              </a:rPr>
              <a:t>Why this matters: native Android makes the speech SDK, UI lifecycle, and local persistence easier to integrate.</a:t>
            </a:r>
            <a:endParaRPr lang="zh-CN" altLang="en-US" sz="1650" b="1" dirty="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B4CE396-8877-43BA-827B-CE10D9497C28}"/>
              </a:ext>
            </a:extLst>
          </p:cNvPr>
          <p:cNvSpPr txBox="1"/>
          <p:nvPr/>
        </p:nvSpPr>
        <p:spPr>
          <a:xfrm>
            <a:off x="1422400" y="5461000"/>
            <a:ext cx="93472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>
                <a:solidFill>
                  <a:srgbClr val="536482"/>
                </a:solidFill>
                <a:latin typeface="Arial" panose="020B0604020202020204" pitchFamily="34" charset="0"/>
              </a:rPr>
              <a:t>The original Unity/C# concept became a native Android implementation while keeping the same learning goals.</a:t>
            </a:r>
            <a:endParaRPr lang="zh-CN" altLang="en-US" sz="16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B6EDB4-8F40-4604-AFB6-2A588C46F6ED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6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48" name="Picture 12" descr="8a7c0663-f7b2-4937-9eb5-b4aeb9d07c89_no_bg.png">
            <a:extLst>
              <a:ext uri="{FF2B5EF4-FFF2-40B4-BE49-F238E27FC236}">
                <a16:creationId xmlns:a16="http://schemas.microsoft.com/office/drawing/2014/main" id="{847F2C66-4465-487B-9387-D15529E74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B853367-6235-49CA-901C-538219C9B201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Data Model and Persistence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B707DC-723D-40EF-880B-20674614F865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SQLite turns separate game sessions into one learner history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8267696-ACB3-4227-992A-7780BA56BBB7}"/>
              </a:ext>
            </a:extLst>
          </p:cNvPr>
          <p:cNvSpPr/>
          <p:nvPr/>
        </p:nvSpPr>
        <p:spPr>
          <a:xfrm>
            <a:off x="812800" y="1320800"/>
            <a:ext cx="2717800" cy="34544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9C98B3-9A4A-4AE2-960B-A9BB23ED3BE8}"/>
              </a:ext>
            </a:extLst>
          </p:cNvPr>
          <p:cNvSpPr txBox="1"/>
          <p:nvPr/>
        </p:nvSpPr>
        <p:spPr>
          <a:xfrm>
            <a:off x="1219200" y="1676400"/>
            <a:ext cx="18796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4400" b="1">
                <a:solidFill>
                  <a:srgbClr val="1F4180"/>
                </a:solidFill>
                <a:latin typeface="Arial" panose="020B0604020202020204" pitchFamily="34" charset="0"/>
              </a:rPr>
              <a:t>11</a:t>
            </a:r>
            <a:endParaRPr lang="zh-CN" altLang="en-US" sz="4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FF0F51-23FE-4F83-8E62-A168FE111405}"/>
              </a:ext>
            </a:extLst>
          </p:cNvPr>
          <p:cNvSpPr txBox="1"/>
          <p:nvPr/>
        </p:nvSpPr>
        <p:spPr>
          <a:xfrm>
            <a:off x="1092200" y="2489200"/>
            <a:ext cx="21336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900" b="1">
                <a:solidFill>
                  <a:srgbClr val="1C375F"/>
                </a:solidFill>
                <a:latin typeface="Arial" panose="020B0604020202020204" pitchFamily="34" charset="0"/>
              </a:rPr>
              <a:t>SQLite tables</a:t>
            </a:r>
          </a:p>
          <a:p>
            <a:pPr algn="ctr"/>
            <a:r>
              <a:rPr lang="en-US" altLang="zh-CN" sz="1900" b="1">
                <a:solidFill>
                  <a:srgbClr val="1C375F"/>
                </a:solidFill>
                <a:latin typeface="Arial" panose="020B0604020202020204" pitchFamily="34" charset="0"/>
              </a:rPr>
              <a:t>grouped by role</a:t>
            </a:r>
            <a:endParaRPr lang="zh-CN" altLang="en-US" sz="1900" b="1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61DFDF8-F315-48D2-B11C-615F08C2E00D}"/>
              </a:ext>
            </a:extLst>
          </p:cNvPr>
          <p:cNvSpPr txBox="1"/>
          <p:nvPr/>
        </p:nvSpPr>
        <p:spPr>
          <a:xfrm>
            <a:off x="1092200" y="3323272"/>
            <a:ext cx="2159000" cy="147732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dirty="0">
                <a:solidFill>
                  <a:srgbClr val="1F4180"/>
                </a:solidFill>
                <a:latin typeface="Arial" panose="020B0604020202020204" pitchFamily="34" charset="0"/>
              </a:rPr>
              <a:t>Users + achievements</a:t>
            </a:r>
          </a:p>
          <a:p>
            <a:pPr algn="ctr"/>
            <a:r>
              <a:rPr lang="en-US" altLang="zh-CN" sz="1650" dirty="0">
                <a:solidFill>
                  <a:srgbClr val="1F4180"/>
                </a:solidFill>
                <a:latin typeface="Arial" panose="020B0604020202020204" pitchFamily="34" charset="0"/>
              </a:rPr>
              <a:t>Game records</a:t>
            </a:r>
          </a:p>
          <a:p>
            <a:pPr algn="ctr"/>
            <a:r>
              <a:rPr lang="en-US" altLang="zh-CN" sz="1650" dirty="0">
                <a:solidFill>
                  <a:srgbClr val="1F4180"/>
                </a:solidFill>
                <a:latin typeface="Arial" panose="020B0604020202020204" pitchFamily="34" charset="0"/>
              </a:rPr>
              <a:t>Content resources</a:t>
            </a:r>
          </a:p>
          <a:p>
            <a:pPr algn="ctr"/>
            <a:r>
              <a:rPr lang="en-US" altLang="zh-CN" sz="1650" dirty="0">
                <a:solidFill>
                  <a:srgbClr val="1F4180"/>
                </a:solidFill>
                <a:latin typeface="Arial" panose="020B0604020202020204" pitchFamily="34" charset="0"/>
              </a:rPr>
              <a:t>Question banks</a:t>
            </a:r>
            <a:endParaRPr lang="zh-CN" altLang="en-US" sz="16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1EAABC8-B4F5-4091-B09D-612A280E231D}"/>
              </a:ext>
            </a:extLst>
          </p:cNvPr>
          <p:cNvSpPr/>
          <p:nvPr/>
        </p:nvSpPr>
        <p:spPr>
          <a:xfrm>
            <a:off x="4064000" y="1320800"/>
            <a:ext cx="7239000" cy="19558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1ED9EBD-5D17-4658-8049-E3A5C36AD710}"/>
              </a:ext>
            </a:extLst>
          </p:cNvPr>
          <p:cNvSpPr/>
          <p:nvPr/>
        </p:nvSpPr>
        <p:spPr>
          <a:xfrm>
            <a:off x="4368800" y="1143000"/>
            <a:ext cx="2794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What is stored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F190DC1-E647-4754-ADA5-6897617BE14B}"/>
              </a:ext>
            </a:extLst>
          </p:cNvPr>
          <p:cNvSpPr/>
          <p:nvPr/>
        </p:nvSpPr>
        <p:spPr>
          <a:xfrm>
            <a:off x="4445000" y="1676400"/>
            <a:ext cx="29210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1439862-6BCB-4B41-8298-4991878448A5}"/>
              </a:ext>
            </a:extLst>
          </p:cNvPr>
          <p:cNvSpPr txBox="1"/>
          <p:nvPr/>
        </p:nvSpPr>
        <p:spPr>
          <a:xfrm>
            <a:off x="4546600" y="17399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F4180"/>
                </a:solidFill>
                <a:latin typeface="Arial" panose="020B0604020202020204" pitchFamily="34" charset="0"/>
              </a:rPr>
              <a:t>Learner</a:t>
            </a:r>
            <a:endParaRPr lang="zh-CN" altLang="en-US" sz="1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3A8A125-BAF8-4D44-8FDA-16E062249EAF}"/>
              </a:ext>
            </a:extLst>
          </p:cNvPr>
          <p:cNvSpPr txBox="1"/>
          <p:nvPr/>
        </p:nvSpPr>
        <p:spPr>
          <a:xfrm>
            <a:off x="4546600" y="19558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80">
                <a:solidFill>
                  <a:srgbClr val="1C375F"/>
                </a:solidFill>
                <a:latin typeface="Arial" panose="020B0604020202020204" pitchFamily="34" charset="0"/>
              </a:rPr>
              <a:t>profile, login streak</a:t>
            </a:r>
            <a:endParaRPr lang="zh-CN" altLang="en-US" sz="138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027B04A-DFC8-4252-88B1-8EED092FFA21}"/>
              </a:ext>
            </a:extLst>
          </p:cNvPr>
          <p:cNvSpPr/>
          <p:nvPr/>
        </p:nvSpPr>
        <p:spPr>
          <a:xfrm>
            <a:off x="7823200" y="1676400"/>
            <a:ext cx="29210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8BA9025-D3BB-4AF0-A73F-2F3A5D15C1F0}"/>
              </a:ext>
            </a:extLst>
          </p:cNvPr>
          <p:cNvSpPr txBox="1"/>
          <p:nvPr/>
        </p:nvSpPr>
        <p:spPr>
          <a:xfrm>
            <a:off x="7924800" y="17399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F4180"/>
                </a:solidFill>
                <a:latin typeface="Arial" panose="020B0604020202020204" pitchFamily="34" charset="0"/>
              </a:rPr>
              <a:t>Evidence</a:t>
            </a:r>
            <a:endParaRPr lang="zh-CN" altLang="en-US" sz="1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573C327-DAD6-424C-938A-D3FF8744E2FE}"/>
              </a:ext>
            </a:extLst>
          </p:cNvPr>
          <p:cNvSpPr txBox="1"/>
          <p:nvPr/>
        </p:nvSpPr>
        <p:spPr>
          <a:xfrm>
            <a:off x="7924800" y="19558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80">
                <a:solidFill>
                  <a:srgbClr val="1C375F"/>
                </a:solidFill>
                <a:latin typeface="Arial" panose="020B0604020202020204" pitchFamily="34" charset="0"/>
              </a:rPr>
              <a:t>scores, question details</a:t>
            </a:r>
            <a:endParaRPr lang="zh-CN" altLang="en-US" sz="138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26F1E28-0E57-403D-A2DC-5FBC0AE1E43D}"/>
              </a:ext>
            </a:extLst>
          </p:cNvPr>
          <p:cNvSpPr/>
          <p:nvPr/>
        </p:nvSpPr>
        <p:spPr>
          <a:xfrm>
            <a:off x="4445000" y="2514600"/>
            <a:ext cx="29210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5B23444-AF76-4049-910E-394C8DE6FE84}"/>
              </a:ext>
            </a:extLst>
          </p:cNvPr>
          <p:cNvSpPr txBox="1"/>
          <p:nvPr/>
        </p:nvSpPr>
        <p:spPr>
          <a:xfrm>
            <a:off x="4546600" y="25781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F4180"/>
                </a:solidFill>
                <a:latin typeface="Arial" panose="020B0604020202020204" pitchFamily="34" charset="0"/>
              </a:rPr>
              <a:t>Content</a:t>
            </a:r>
            <a:endParaRPr lang="zh-CN" altLang="en-US" sz="1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FB3857-F2E7-449B-A0B9-423E09933C0B}"/>
              </a:ext>
            </a:extLst>
          </p:cNvPr>
          <p:cNvSpPr txBox="1"/>
          <p:nvPr/>
        </p:nvSpPr>
        <p:spPr>
          <a:xfrm>
            <a:off x="4546600" y="2794000"/>
            <a:ext cx="27178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80">
                <a:solidFill>
                  <a:srgbClr val="1C375F"/>
                </a:solidFill>
                <a:latin typeface="Arial" panose="020B0604020202020204" pitchFamily="34" charset="0"/>
              </a:rPr>
              <a:t>words, sentences, tokens</a:t>
            </a:r>
            <a:endParaRPr lang="zh-CN" altLang="en-US" sz="138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92BF1B9C-D971-40EE-88E3-6D901C5BF377}"/>
              </a:ext>
            </a:extLst>
          </p:cNvPr>
          <p:cNvSpPr/>
          <p:nvPr/>
        </p:nvSpPr>
        <p:spPr>
          <a:xfrm>
            <a:off x="7823200" y="2514600"/>
            <a:ext cx="29210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4519692-08A0-4719-9834-F1E79EEED8B2}"/>
              </a:ext>
            </a:extLst>
          </p:cNvPr>
          <p:cNvSpPr txBox="1"/>
          <p:nvPr/>
        </p:nvSpPr>
        <p:spPr>
          <a:xfrm>
            <a:off x="7924800" y="25781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F4180"/>
                </a:solidFill>
                <a:latin typeface="Arial" panose="020B0604020202020204" pitchFamily="34" charset="0"/>
              </a:rPr>
              <a:t>Motivation</a:t>
            </a:r>
            <a:endParaRPr lang="zh-CN" altLang="en-US" sz="1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EB307D6-4B7F-47CA-B086-48324C1DAE93}"/>
              </a:ext>
            </a:extLst>
          </p:cNvPr>
          <p:cNvSpPr txBox="1"/>
          <p:nvPr/>
        </p:nvSpPr>
        <p:spPr>
          <a:xfrm>
            <a:off x="7924800" y="2794000"/>
            <a:ext cx="2717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80">
                <a:solidFill>
                  <a:srgbClr val="1C375F"/>
                </a:solidFill>
                <a:latin typeface="Arial" panose="020B0604020202020204" pitchFamily="34" charset="0"/>
              </a:rPr>
              <a:t>achievements, progress</a:t>
            </a:r>
            <a:endParaRPr lang="zh-CN" altLang="en-US" sz="138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F6F756B-018B-4E5B-8F00-8F3FE1DF269D}"/>
              </a:ext>
            </a:extLst>
          </p:cNvPr>
          <p:cNvSpPr/>
          <p:nvPr/>
        </p:nvSpPr>
        <p:spPr>
          <a:xfrm>
            <a:off x="4064000" y="3708400"/>
            <a:ext cx="7239000" cy="1092200"/>
          </a:xfrm>
          <a:prstGeom prst="roundRect">
            <a:avLst/>
          </a:prstGeom>
          <a:solidFill>
            <a:srgbClr val="FFF7ED"/>
          </a:solidFill>
          <a:ln w="14605">
            <a:solidFill>
              <a:srgbClr val="E5D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455E4BE-1AF1-46B1-A137-2E7AC60E63D8}"/>
              </a:ext>
            </a:extLst>
          </p:cNvPr>
          <p:cNvSpPr/>
          <p:nvPr/>
        </p:nvSpPr>
        <p:spPr>
          <a:xfrm>
            <a:off x="4368800" y="3530600"/>
            <a:ext cx="2667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JSON to SQLite pipeline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5EF4D76-D979-492F-B6F2-66BAEB6BD109}"/>
              </a:ext>
            </a:extLst>
          </p:cNvPr>
          <p:cNvSpPr txBox="1"/>
          <p:nvPr/>
        </p:nvSpPr>
        <p:spPr>
          <a:xfrm>
            <a:off x="4445000" y="4038600"/>
            <a:ext cx="64516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750" b="1">
                <a:solidFill>
                  <a:srgbClr val="1F4180"/>
                </a:solidFill>
                <a:latin typeface="Arial" panose="020B0604020202020204" pitchFamily="34" charset="0"/>
              </a:rPr>
              <a:t>JSON assets -&gt; DataManager -&gt; SeedDataLoader -&gt; SQLite</a:t>
            </a:r>
            <a:endParaRPr lang="zh-CN" altLang="en-US" sz="17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1E01614-171E-44E9-8532-DFAC6F6C4EFE}"/>
              </a:ext>
            </a:extLst>
          </p:cNvPr>
          <p:cNvSpPr txBox="1"/>
          <p:nvPr/>
        </p:nvSpPr>
        <p:spPr>
          <a:xfrm>
            <a:off x="4445000" y="4394200"/>
            <a:ext cx="64516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750" b="1">
                <a:solidFill>
                  <a:srgbClr val="1F4180"/>
                </a:solidFill>
                <a:latin typeface="Arial" panose="020B0604020202020204" pitchFamily="34" charset="0"/>
              </a:rPr>
              <a:t>GameActivity -&gt; Profile / Records</a:t>
            </a:r>
            <a:endParaRPr lang="zh-CN" altLang="en-US" sz="17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868A3A7-E23C-44A3-822A-3EECBEBDBB49}"/>
              </a:ext>
            </a:extLst>
          </p:cNvPr>
          <p:cNvSpPr txBox="1"/>
          <p:nvPr/>
        </p:nvSpPr>
        <p:spPr>
          <a:xfrm>
            <a:off x="1397000" y="5283200"/>
            <a:ext cx="9398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b="1" dirty="0" err="1">
                <a:solidFill>
                  <a:srgbClr val="1F4180"/>
                </a:solidFill>
                <a:latin typeface="Arial" panose="020B0604020202020204" pitchFamily="34" charset="0"/>
              </a:rPr>
              <a:t>Defence</a:t>
            </a:r>
            <a:r>
              <a:rPr lang="en-US" altLang="zh-CN" b="1" dirty="0">
                <a:solidFill>
                  <a:srgbClr val="1F4180"/>
                </a:solidFill>
                <a:latin typeface="Arial" panose="020B0604020202020204" pitchFamily="34" charset="0"/>
              </a:rPr>
              <a:t> point: the same data model supports all games, so progress is persistent and comparable.</a:t>
            </a:r>
            <a:endParaRPr lang="zh-CN" altLang="en-US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F87FEE-D2C3-4A61-81CA-2705D6B07D5B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8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40" name="Picture 12" descr="8a7c0663-f7b2-4937-9eb5-b4aeb9d07c89_no_bg.png">
            <a:extLst>
              <a:ext uri="{FF2B5EF4-FFF2-40B4-BE49-F238E27FC236}">
                <a16:creationId xmlns:a16="http://schemas.microsoft.com/office/drawing/2014/main" id="{F23D8D7D-0544-4660-80B5-7E733936C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05E3906C-A783-4291-80D0-6CA92D287077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Character Matching: Question Selection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AF10E7F-574F-449D-AC70-A33DE5462C67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Core technology: SQLite-backed question loading and distractor generation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D0C58CF-A8B8-470A-A271-3CA16CBBC927}"/>
              </a:ext>
            </a:extLst>
          </p:cNvPr>
          <p:cNvSpPr/>
          <p:nvPr/>
        </p:nvSpPr>
        <p:spPr>
          <a:xfrm>
            <a:off x="787400" y="1244600"/>
            <a:ext cx="6858000" cy="40640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B2FB7DC-0B30-4EA5-BA38-5E2D2203DEAA}"/>
              </a:ext>
            </a:extLst>
          </p:cNvPr>
          <p:cNvSpPr/>
          <p:nvPr/>
        </p:nvSpPr>
        <p:spPr>
          <a:xfrm>
            <a:off x="1168400" y="1066800"/>
            <a:ext cx="2413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Runtime flow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3ABA05E-B3E3-4D75-8EF6-9B5C562DA418}"/>
              </a:ext>
            </a:extLst>
          </p:cNvPr>
          <p:cNvSpPr/>
          <p:nvPr/>
        </p:nvSpPr>
        <p:spPr>
          <a:xfrm>
            <a:off x="1219200" y="1651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1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F7145FF-E6BE-4F03-A8B9-BF2C3EFF5685}"/>
              </a:ext>
            </a:extLst>
          </p:cNvPr>
          <p:cNvSpPr txBox="1"/>
          <p:nvPr/>
        </p:nvSpPr>
        <p:spPr>
          <a:xfrm>
            <a:off x="1879600" y="1676400"/>
            <a:ext cx="4953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GameActivity receives difficulty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88BD6B4-AA4C-48AD-96F8-38B4D30E4156}"/>
              </a:ext>
            </a:extLst>
          </p:cNvPr>
          <p:cNvSpPr/>
          <p:nvPr/>
        </p:nvSpPr>
        <p:spPr>
          <a:xfrm>
            <a:off x="1219200" y="23114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2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10E8F12-130D-46DC-86C6-4FCCBC060452}"/>
              </a:ext>
            </a:extLst>
          </p:cNvPr>
          <p:cNvSpPr txBox="1"/>
          <p:nvPr/>
        </p:nvSpPr>
        <p:spPr>
          <a:xfrm>
            <a:off x="1879600" y="2336800"/>
            <a:ext cx="4953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DAO queries random words from SQLite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739E17B-A776-4373-B22E-57D636D3DED7}"/>
              </a:ext>
            </a:extLst>
          </p:cNvPr>
          <p:cNvSpPr/>
          <p:nvPr/>
        </p:nvSpPr>
        <p:spPr>
          <a:xfrm>
            <a:off x="1219200" y="29718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3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1C3A1E-8988-4A5B-9F58-3D2F7A37B37B}"/>
              </a:ext>
            </a:extLst>
          </p:cNvPr>
          <p:cNvSpPr txBox="1"/>
          <p:nvPr/>
        </p:nvSpPr>
        <p:spPr>
          <a:xfrm>
            <a:off x="1879600" y="2997200"/>
            <a:ext cx="4953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Distractors are selected by POS tag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53A51F1-682A-4B9E-BDE9-F82DD935E140}"/>
              </a:ext>
            </a:extLst>
          </p:cNvPr>
          <p:cNvSpPr/>
          <p:nvPr/>
        </p:nvSpPr>
        <p:spPr>
          <a:xfrm>
            <a:off x="1219200" y="36322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4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78DEAE0-46D0-4ECA-B022-A3EF9043CD59}"/>
              </a:ext>
            </a:extLst>
          </p:cNvPr>
          <p:cNvSpPr txBox="1"/>
          <p:nvPr/>
        </p:nvSpPr>
        <p:spPr>
          <a:xfrm>
            <a:off x="1879600" y="3657600"/>
            <a:ext cx="4953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Answer feedback is shown immediately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F204ECF-62FF-4FB5-BF66-EE6F81C6E2EB}"/>
              </a:ext>
            </a:extLst>
          </p:cNvPr>
          <p:cNvSpPr/>
          <p:nvPr/>
        </p:nvSpPr>
        <p:spPr>
          <a:xfrm>
            <a:off x="1219200" y="42926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5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7434637-4F62-4D03-B4F6-42094D9A7227}"/>
              </a:ext>
            </a:extLst>
          </p:cNvPr>
          <p:cNvSpPr txBox="1"/>
          <p:nvPr/>
        </p:nvSpPr>
        <p:spPr>
          <a:xfrm>
            <a:off x="1879600" y="4318000"/>
            <a:ext cx="4953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Result is saved to game_question_details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7CF83C3-DFDA-42B8-8BAC-08494CD99310}"/>
              </a:ext>
            </a:extLst>
          </p:cNvPr>
          <p:cNvSpPr/>
          <p:nvPr/>
        </p:nvSpPr>
        <p:spPr>
          <a:xfrm>
            <a:off x="8026400" y="1498600"/>
            <a:ext cx="3200400" cy="317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D34F861-C6CE-4528-BEC3-6328E3E0AA6C}"/>
              </a:ext>
            </a:extLst>
          </p:cNvPr>
          <p:cNvSpPr/>
          <p:nvPr/>
        </p:nvSpPr>
        <p:spPr>
          <a:xfrm>
            <a:off x="8382000" y="1320800"/>
            <a:ext cx="2032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Why it matters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5E401FC-2388-4BFD-8918-8EE1F4DB2133}"/>
              </a:ext>
            </a:extLst>
          </p:cNvPr>
          <p:cNvSpPr txBox="1"/>
          <p:nvPr/>
        </p:nvSpPr>
        <p:spPr>
          <a:xfrm>
            <a:off x="8432800" y="1930400"/>
            <a:ext cx="2336800" cy="313932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• Difficulty-aware practice</a:t>
            </a:r>
          </a:p>
          <a:p>
            <a:endParaRPr lang="en-US" altLang="zh-CN" sz="170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• Plausible wrong options</a:t>
            </a:r>
          </a:p>
          <a:p>
            <a:endParaRPr lang="en-US" altLang="zh-CN" sz="170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• Fast local interaction</a:t>
            </a:r>
          </a:p>
          <a:p>
            <a:endParaRPr lang="en-US" altLang="zh-CN" sz="170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700">
                <a:solidFill>
                  <a:srgbClr val="1C375F"/>
                </a:solidFill>
                <a:latin typeface="Arial" panose="020B0604020202020204" pitchFamily="34" charset="0"/>
              </a:rPr>
              <a:t>• Clear evidence for marking</a:t>
            </a:r>
            <a:endParaRPr lang="zh-CN" altLang="en-US" sz="170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A48E91-B9C7-471B-90FF-1E6202665645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8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40" name="Picture 12" descr="8a7c0663-f7b2-4937-9eb5-b4aeb9d07c89_no_bg.png">
            <a:extLst>
              <a:ext uri="{FF2B5EF4-FFF2-40B4-BE49-F238E27FC236}">
                <a16:creationId xmlns:a16="http://schemas.microsoft.com/office/drawing/2014/main" id="{F23D8D7D-0544-4660-80B5-7E733936C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C32615-0FF4-4FE7-9957-A8688D8E40DF}"/>
              </a:ext>
            </a:extLst>
          </p:cNvPr>
          <p:cNvSpPr txBox="1"/>
          <p:nvPr/>
        </p:nvSpPr>
        <p:spPr>
          <a:xfrm>
            <a:off x="609600" y="254000"/>
            <a:ext cx="10972800" cy="5027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Pronunciation Quiz: iFLYTEK Scoring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81AD26-8166-4F12-B20A-2FA87BF0233D}"/>
              </a:ext>
            </a:extLst>
          </p:cNvPr>
          <p:cNvSpPr txBox="1"/>
          <p:nvPr/>
        </p:nvSpPr>
        <p:spPr>
          <a:xfrm>
            <a:off x="1016000" y="711200"/>
            <a:ext cx="10160000" cy="31034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Core technology: microphone input, ISE evaluation, and score mapping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26C657-B601-495B-8BCA-C2D502BD32AE}"/>
              </a:ext>
            </a:extLst>
          </p:cNvPr>
          <p:cNvSpPr/>
          <p:nvPr/>
        </p:nvSpPr>
        <p:spPr>
          <a:xfrm>
            <a:off x="787400" y="1244600"/>
            <a:ext cx="6858000" cy="38100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3B8486-2B4E-45E9-AEF7-DE559AA81A0D}"/>
              </a:ext>
            </a:extLst>
          </p:cNvPr>
          <p:cNvSpPr/>
          <p:nvPr/>
        </p:nvSpPr>
        <p:spPr>
          <a:xfrm>
            <a:off x="1168400" y="1066800"/>
            <a:ext cx="2667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Speech evaluation flow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D1BF51-FE65-48F1-AF03-6A9B8653BC64}"/>
              </a:ext>
            </a:extLst>
          </p:cNvPr>
          <p:cNvSpPr/>
          <p:nvPr/>
        </p:nvSpPr>
        <p:spPr>
          <a:xfrm>
            <a:off x="1219200" y="1651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1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E6F551-1001-43AE-9E80-B5A6C30306AE}"/>
              </a:ext>
            </a:extLst>
          </p:cNvPr>
          <p:cNvSpPr txBox="1"/>
          <p:nvPr/>
        </p:nvSpPr>
        <p:spPr>
          <a:xfrm>
            <a:off x="1879600" y="1676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User holds the mic button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8565E8D-CF44-4CB8-A0B8-C1E733E40A22}"/>
              </a:ext>
            </a:extLst>
          </p:cNvPr>
          <p:cNvSpPr/>
          <p:nvPr/>
        </p:nvSpPr>
        <p:spPr>
          <a:xfrm>
            <a:off x="1219200" y="2286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2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01FC1D-9444-4E67-AF47-A8AA318B84D6}"/>
              </a:ext>
            </a:extLst>
          </p:cNvPr>
          <p:cNvSpPr txBox="1"/>
          <p:nvPr/>
        </p:nvSpPr>
        <p:spPr>
          <a:xfrm>
            <a:off x="1879600" y="2311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IseEvaluator records audio frames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E061AF3-ABAE-44DE-868A-1159E4B98153}"/>
              </a:ext>
            </a:extLst>
          </p:cNvPr>
          <p:cNvSpPr/>
          <p:nvPr/>
        </p:nvSpPr>
        <p:spPr>
          <a:xfrm>
            <a:off x="1219200" y="2921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3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AF0FF3-2FB8-4A6C-BF20-7EF00D8DEC1E}"/>
              </a:ext>
            </a:extLst>
          </p:cNvPr>
          <p:cNvSpPr txBox="1"/>
          <p:nvPr/>
        </p:nvSpPr>
        <p:spPr>
          <a:xfrm>
            <a:off x="1879600" y="2946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Audio is sent to iFLYTEK ISE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0E260D-65B1-4B54-9160-C3938DB65D23}"/>
              </a:ext>
            </a:extLst>
          </p:cNvPr>
          <p:cNvSpPr/>
          <p:nvPr/>
        </p:nvSpPr>
        <p:spPr>
          <a:xfrm>
            <a:off x="1219200" y="3556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4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F88A65-C1F6-41CE-B569-CD4A25D19282}"/>
              </a:ext>
            </a:extLst>
          </p:cNvPr>
          <p:cNvSpPr txBox="1"/>
          <p:nvPr/>
        </p:nvSpPr>
        <p:spPr>
          <a:xfrm>
            <a:off x="1879600" y="3581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XML scores are parsed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99FD81-2A8E-4BB4-871A-8487D3305076}"/>
              </a:ext>
            </a:extLst>
          </p:cNvPr>
          <p:cNvSpPr/>
          <p:nvPr/>
        </p:nvSpPr>
        <p:spPr>
          <a:xfrm>
            <a:off x="1219200" y="4191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5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1A9003-2506-4CA0-B644-DC4CC85D3171}"/>
              </a:ext>
            </a:extLst>
          </p:cNvPr>
          <p:cNvSpPr txBox="1"/>
          <p:nvPr/>
        </p:nvSpPr>
        <p:spPr>
          <a:xfrm>
            <a:off x="1879600" y="4216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0-100 score maps to 0-10 game score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E5C617-3831-4C62-BD50-32FB75B7BACA}"/>
              </a:ext>
            </a:extLst>
          </p:cNvPr>
          <p:cNvSpPr/>
          <p:nvPr/>
        </p:nvSpPr>
        <p:spPr>
          <a:xfrm>
            <a:off x="8026400" y="1498600"/>
            <a:ext cx="3200400" cy="307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67BAA50-9CF2-4511-B746-B1026F5B6434}"/>
              </a:ext>
            </a:extLst>
          </p:cNvPr>
          <p:cNvSpPr/>
          <p:nvPr/>
        </p:nvSpPr>
        <p:spPr>
          <a:xfrm>
            <a:off x="8382000" y="1320800"/>
            <a:ext cx="2032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Saved evidence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EAACDD-8138-4CFE-A350-E51EA6F45C42}"/>
              </a:ext>
            </a:extLst>
          </p:cNvPr>
          <p:cNvSpPr txBox="1"/>
          <p:nvPr/>
        </p:nvSpPr>
        <p:spPr>
          <a:xfrm>
            <a:off x="8432800" y="1930400"/>
            <a:ext cx="2336800" cy="259558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 sz="1620" dirty="0">
                <a:solidFill>
                  <a:srgbClr val="1C375F"/>
                </a:solidFill>
                <a:latin typeface="Arial" panose="020B0604020202020204" pitchFamily="34" charset="0"/>
              </a:rPr>
              <a:t>• </a:t>
            </a:r>
            <a:r>
              <a:rPr lang="en-US" altLang="zh-CN" sz="1620" dirty="0" err="1">
                <a:solidFill>
                  <a:srgbClr val="1C375F"/>
                </a:solidFill>
                <a:latin typeface="Arial" panose="020B0604020202020204" pitchFamily="34" charset="0"/>
              </a:rPr>
              <a:t>Recognised</a:t>
            </a:r>
            <a:r>
              <a:rPr lang="en-US" altLang="zh-CN" sz="1620" dirty="0">
                <a:solidFill>
                  <a:srgbClr val="1C375F"/>
                </a:solidFill>
                <a:latin typeface="Arial" panose="020B0604020202020204" pitchFamily="34" charset="0"/>
              </a:rPr>
              <a:t> content</a:t>
            </a:r>
          </a:p>
          <a:p>
            <a:endParaRPr lang="en-US" altLang="zh-CN" sz="1620" dirty="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620" dirty="0">
                <a:solidFill>
                  <a:srgbClr val="1C375F"/>
                </a:solidFill>
                <a:latin typeface="Arial" panose="020B0604020202020204" pitchFamily="34" charset="0"/>
              </a:rPr>
              <a:t>• Total pronunciation score</a:t>
            </a:r>
          </a:p>
          <a:p>
            <a:endParaRPr lang="en-US" altLang="zh-CN" sz="1620" dirty="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620" dirty="0">
                <a:solidFill>
                  <a:srgbClr val="1C375F"/>
                </a:solidFill>
                <a:latin typeface="Arial" panose="020B0604020202020204" pitchFamily="34" charset="0"/>
              </a:rPr>
              <a:t>• Accuracy / fluency / completeness</a:t>
            </a:r>
          </a:p>
          <a:p>
            <a:endParaRPr lang="en-US" altLang="zh-CN" sz="1620" dirty="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620" dirty="0">
                <a:solidFill>
                  <a:srgbClr val="1C375F"/>
                </a:solidFill>
                <a:latin typeface="Arial" panose="020B0604020202020204" pitchFamily="34" charset="0"/>
              </a:rPr>
              <a:t>• Per-question SQLite result</a:t>
            </a:r>
            <a:endParaRPr lang="zh-CN" altLang="en-US" sz="1620" dirty="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297515-E66A-47CC-BB9C-5A1725FBB1AF}"/>
              </a:ext>
            </a:extLst>
          </p:cNvPr>
          <p:cNvSpPr txBox="1"/>
          <p:nvPr/>
        </p:nvSpPr>
        <p:spPr>
          <a:xfrm>
            <a:off x="8128000" y="4622800"/>
            <a:ext cx="2921000" cy="77200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450">
                <a:solidFill>
                  <a:srgbClr val="536482"/>
                </a:solidFill>
                <a:latin typeface="Arial" panose="020B0604020202020204" pitchFamily="34" charset="0"/>
              </a:rPr>
              <a:t>Limitation: scores can vary with noise, device, and external service behaviour.</a:t>
            </a:r>
            <a:endParaRPr lang="zh-CN" altLang="en-US" sz="14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73B56C-BA0D-48BB-BEDD-FB4E218FD9C8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8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40" name="Picture 12" descr="8a7c0663-f7b2-4937-9eb5-b4aeb9d07c89_no_bg.png">
            <a:extLst>
              <a:ext uri="{FF2B5EF4-FFF2-40B4-BE49-F238E27FC236}">
                <a16:creationId xmlns:a16="http://schemas.microsoft.com/office/drawing/2014/main" id="{F23D8D7D-0544-4660-80B5-7E733936C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C1043E0-20BD-423E-9838-D8624522D1F1}"/>
              </a:ext>
            </a:extLst>
          </p:cNvPr>
          <p:cNvSpPr txBox="1"/>
          <p:nvPr/>
        </p:nvSpPr>
        <p:spPr>
          <a:xfrm>
            <a:off x="609600" y="254000"/>
            <a:ext cx="10972800" cy="5027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Word Puzzle: NLP Token Pipeline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304BF-2839-4910-BE89-8FD73E0C24DC}"/>
              </a:ext>
            </a:extLst>
          </p:cNvPr>
          <p:cNvSpPr txBox="1"/>
          <p:nvPr/>
        </p:nvSpPr>
        <p:spPr>
          <a:xfrm>
            <a:off x="1016000" y="711200"/>
            <a:ext cx="10160000" cy="31034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Core technology: HanLP segmentation and sentence-token reconstruction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26B9C2-1F9F-4EF1-8618-E946B1BF649E}"/>
              </a:ext>
            </a:extLst>
          </p:cNvPr>
          <p:cNvSpPr/>
          <p:nvPr/>
        </p:nvSpPr>
        <p:spPr>
          <a:xfrm>
            <a:off x="787400" y="1244600"/>
            <a:ext cx="6858000" cy="4064000"/>
          </a:xfrm>
          <a:prstGeom prst="roundRect">
            <a:avLst/>
          </a:prstGeom>
          <a:solidFill>
            <a:srgbClr val="FFF7ED"/>
          </a:solidFill>
          <a:ln w="14605">
            <a:solidFill>
              <a:srgbClr val="E5D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F0DB6EC-3584-499E-B224-291802919A83}"/>
              </a:ext>
            </a:extLst>
          </p:cNvPr>
          <p:cNvSpPr/>
          <p:nvPr/>
        </p:nvSpPr>
        <p:spPr>
          <a:xfrm>
            <a:off x="1168400" y="1066800"/>
            <a:ext cx="2667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NLP preprocessing flow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15C0C6-684D-4837-A359-6AAFBB4E78A0}"/>
              </a:ext>
            </a:extLst>
          </p:cNvPr>
          <p:cNvSpPr/>
          <p:nvPr/>
        </p:nvSpPr>
        <p:spPr>
          <a:xfrm>
            <a:off x="1219200" y="16510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1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B9B425-7078-42AA-823A-0C58EFD68EB9}"/>
              </a:ext>
            </a:extLst>
          </p:cNvPr>
          <p:cNvSpPr txBox="1"/>
          <p:nvPr/>
        </p:nvSpPr>
        <p:spPr>
          <a:xfrm>
            <a:off x="1879600" y="16764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Sentences are imported from JSON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8520067-401A-4980-AAE7-ACE2438A2540}"/>
              </a:ext>
            </a:extLst>
          </p:cNvPr>
          <p:cNvSpPr/>
          <p:nvPr/>
        </p:nvSpPr>
        <p:spPr>
          <a:xfrm>
            <a:off x="1219200" y="23114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2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0F4C55-B570-4B87-8AAD-E74087D06658}"/>
              </a:ext>
            </a:extLst>
          </p:cNvPr>
          <p:cNvSpPr txBox="1"/>
          <p:nvPr/>
        </p:nvSpPr>
        <p:spPr>
          <a:xfrm>
            <a:off x="1879600" y="23368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HanLP segments each Chinese sentence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50B5F98-2E16-4A54-A419-367A8EB8B797}"/>
              </a:ext>
            </a:extLst>
          </p:cNvPr>
          <p:cNvSpPr/>
          <p:nvPr/>
        </p:nvSpPr>
        <p:spPr>
          <a:xfrm>
            <a:off x="1219200" y="29718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3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B92366-C9DF-4069-A356-1D64D410517C}"/>
              </a:ext>
            </a:extLst>
          </p:cNvPr>
          <p:cNvSpPr txBox="1"/>
          <p:nvPr/>
        </p:nvSpPr>
        <p:spPr>
          <a:xfrm>
            <a:off x="1879600" y="29972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pinyin4j adds pinyin labels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B5ADFD-C8AD-486E-AE2E-CC0CDAD62436}"/>
              </a:ext>
            </a:extLst>
          </p:cNvPr>
          <p:cNvSpPr/>
          <p:nvPr/>
        </p:nvSpPr>
        <p:spPr>
          <a:xfrm>
            <a:off x="1219200" y="36322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4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D60F5B-53B7-4C8C-A087-A40DF6A113F5}"/>
              </a:ext>
            </a:extLst>
          </p:cNvPr>
          <p:cNvSpPr txBox="1"/>
          <p:nvPr/>
        </p:nvSpPr>
        <p:spPr>
          <a:xfrm>
            <a:off x="1879600" y="36576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word_order and word_position are stored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2055BE-7B49-4CC6-A77D-75BDB8C666D0}"/>
              </a:ext>
            </a:extLst>
          </p:cNvPr>
          <p:cNvSpPr/>
          <p:nvPr/>
        </p:nvSpPr>
        <p:spPr>
          <a:xfrm>
            <a:off x="1219200" y="4292600"/>
            <a:ext cx="4572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400" b="1">
                <a:solidFill>
                  <a:srgbClr val="1F4180"/>
                </a:solidFill>
                <a:latin typeface="Arial" panose="020B0604020202020204" pitchFamily="34" charset="0"/>
              </a:rPr>
              <a:t>5</a:t>
            </a:r>
            <a:endParaRPr lang="zh-CN" altLang="en-US" sz="14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1E6208-2703-41E4-8BF4-2C32AAC32FE0}"/>
              </a:ext>
            </a:extLst>
          </p:cNvPr>
          <p:cNvSpPr txBox="1"/>
          <p:nvPr/>
        </p:nvSpPr>
        <p:spPr>
          <a:xfrm>
            <a:off x="1879600" y="4318000"/>
            <a:ext cx="495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GameActivity builds reorder or blank tasks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5E5B60F-752A-4D44-BAA8-9DD10BFC3771}"/>
              </a:ext>
            </a:extLst>
          </p:cNvPr>
          <p:cNvSpPr/>
          <p:nvPr/>
        </p:nvSpPr>
        <p:spPr>
          <a:xfrm>
            <a:off x="8026400" y="1498600"/>
            <a:ext cx="3200400" cy="3048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E5D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160209-0EB9-4E3F-A7B3-E3162F422D75}"/>
              </a:ext>
            </a:extLst>
          </p:cNvPr>
          <p:cNvSpPr/>
          <p:nvPr/>
        </p:nvSpPr>
        <p:spPr>
          <a:xfrm>
            <a:off x="8382000" y="1320800"/>
            <a:ext cx="2032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Why it matters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E6E42E-F0CE-428A-98F3-5467C5896701}"/>
              </a:ext>
            </a:extLst>
          </p:cNvPr>
          <p:cNvSpPr txBox="1"/>
          <p:nvPr/>
        </p:nvSpPr>
        <p:spPr>
          <a:xfrm>
            <a:off x="8432800" y="1930400"/>
            <a:ext cx="2336800" cy="14986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 sz="1650">
                <a:solidFill>
                  <a:srgbClr val="1C375F"/>
                </a:solidFill>
                <a:latin typeface="Arial" panose="020B0604020202020204" pitchFamily="34" charset="0"/>
              </a:rPr>
              <a:t>• Sentence-level learning</a:t>
            </a:r>
          </a:p>
          <a:p>
            <a:endParaRPr lang="en-US" altLang="zh-CN" sz="165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650">
                <a:solidFill>
                  <a:srgbClr val="1C375F"/>
                </a:solidFill>
                <a:latin typeface="Arial" panose="020B0604020202020204" pitchFamily="34" charset="0"/>
              </a:rPr>
              <a:t>• Blank mode for long sentences</a:t>
            </a:r>
          </a:p>
          <a:p>
            <a:endParaRPr lang="en-US" altLang="zh-CN" sz="1650">
              <a:solidFill>
                <a:srgbClr val="1C375F"/>
              </a:solidFill>
              <a:latin typeface="Arial" panose="020B0604020202020204" pitchFamily="34" charset="0"/>
            </a:endParaRPr>
          </a:p>
          <a:p>
            <a:r>
              <a:rPr lang="en-US" altLang="zh-CN" sz="1650">
                <a:solidFill>
                  <a:srgbClr val="1C375F"/>
                </a:solidFill>
                <a:latin typeface="Arial" panose="020B0604020202020204" pitchFamily="34" charset="0"/>
              </a:rPr>
              <a:t>• Sentence answers saved</a:t>
            </a:r>
            <a:endParaRPr lang="zh-CN" altLang="en-US" sz="1650">
              <a:solidFill>
                <a:srgbClr val="1C375F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F56703D-98B4-4531-8222-9D1AF2C67F3D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44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2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Evidence: User Flow and Matching Game</a:t>
            </a:r>
            <a:endParaRPr lang="en-US" sz="2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536482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Screenshots demonstrate implemented login, registration, and immediate answer feedback</a:t>
            </a:r>
            <a:endParaRPr lang="en-US" sz="1350" dirty="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" y="1234439"/>
            <a:ext cx="5440680" cy="4788243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33272"/>
            <a:ext cx="5221224" cy="146304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User/account flow</a:t>
            </a:r>
            <a:endParaRPr lang="en-US" sz="1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035040" y="1234440"/>
            <a:ext cx="5440680" cy="4788242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033272"/>
            <a:ext cx="5221224" cy="146304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Character Matching feedback</a:t>
            </a:r>
            <a:endParaRPr lang="en-US" sz="1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Image 4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7" name="Image 5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66628F4-1D17-4653-BC89-78BBF12B4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142" y="1321058"/>
            <a:ext cx="2495322" cy="461500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B77EFC1-0180-44BF-B82F-FEC3E9A90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21" y="1321058"/>
            <a:ext cx="2495321" cy="461500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1F286B5-EC38-46DC-9287-BC44DE0B5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607" y="1298448"/>
            <a:ext cx="2507548" cy="4637617"/>
          </a:xfrm>
          <a:prstGeom prst="rect">
            <a:avLst/>
          </a:prstGeom>
        </p:spPr>
      </p:pic>
      <p:pic>
        <p:nvPicPr>
          <p:cNvPr id="19" name="Picture 12" descr="8a7c0663-f7b2-4937-9eb5-b4aeb9d07c89_no_bg.png">
            <a:extLst>
              <a:ext uri="{FF2B5EF4-FFF2-40B4-BE49-F238E27FC236}">
                <a16:creationId xmlns:a16="http://schemas.microsoft.com/office/drawing/2014/main" id="{5D1F385F-AC28-4745-B997-B80C1721D6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7ABA083-CF95-4FB5-A2F0-D23D776590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501" y="1298449"/>
            <a:ext cx="2507547" cy="46376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06D8EC-CD6C-4DEC-8D1C-E509BF2E78E6}"/>
              </a:ext>
            </a:extLst>
          </p:cNvPr>
          <p:cNvSpPr txBox="1"/>
          <p:nvPr/>
        </p:nvSpPr>
        <p:spPr>
          <a:xfrm>
            <a:off x="11861800" y="6311900"/>
            <a:ext cx="129844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9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85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2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Evidence: Speech and Sentence Tasks</a:t>
            </a:r>
            <a:endParaRPr lang="en-US" sz="2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536482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Pronunciation Quiz and Word Puzzle show the two more technical game modes</a:t>
            </a:r>
            <a:endParaRPr lang="en-US" sz="1350" dirty="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13232" y="1174386"/>
            <a:ext cx="5440680" cy="4878942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973218"/>
            <a:ext cx="5221224" cy="146304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Pronunciation evaluation</a:t>
            </a:r>
            <a:endParaRPr lang="en-US" sz="1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035040" y="1211208"/>
            <a:ext cx="5440680" cy="4864979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144768" y="996696"/>
            <a:ext cx="5221224" cy="146304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Word Puzzle interaction</a:t>
            </a:r>
            <a:endParaRPr lang="en-US" sz="1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Image 4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7" name="Image 5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F117265-FF5A-4BD0-A630-62F7818F7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45" y="1281272"/>
            <a:ext cx="2543091" cy="470335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17730A3-2669-4504-8140-DECD0D3BD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437" y="1270769"/>
            <a:ext cx="2551309" cy="471855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5EAEC3AB-6D4B-404A-BCA4-28D391D07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611" y="1270769"/>
            <a:ext cx="2548769" cy="471385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701E11B-011E-416E-9CB0-456913868E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380" y="1266074"/>
            <a:ext cx="2553846" cy="4723245"/>
          </a:xfrm>
          <a:prstGeom prst="rect">
            <a:avLst/>
          </a:prstGeom>
        </p:spPr>
      </p:pic>
      <p:pic>
        <p:nvPicPr>
          <p:cNvPr id="19" name="Picture 12" descr="8a7c0663-f7b2-4937-9eb5-b4aeb9d07c89_no_bg.png">
            <a:extLst>
              <a:ext uri="{FF2B5EF4-FFF2-40B4-BE49-F238E27FC236}">
                <a16:creationId xmlns:a16="http://schemas.microsoft.com/office/drawing/2014/main" id="{5D1F385F-AC28-4745-B997-B80C1721D6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F434F8E-3F21-4765-A6EC-11D126E7A773}"/>
              </a:ext>
            </a:extLst>
          </p:cNvPr>
          <p:cNvSpPr txBox="1"/>
          <p:nvPr/>
        </p:nvSpPr>
        <p:spPr>
          <a:xfrm>
            <a:off x="11861800" y="6311900"/>
            <a:ext cx="208390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10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2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Evidence: Progress and Records</a:t>
            </a:r>
            <a:endParaRPr lang="en-US" sz="2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536482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Profile, achievements, and records prove persistent learner tracking</a:t>
            </a:r>
            <a:endParaRPr lang="en-US" sz="1350" dirty="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13232" y="1174386"/>
            <a:ext cx="10808208" cy="4878942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80809" y="982362"/>
            <a:ext cx="5221224" cy="146304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1600" b="1">
                <a:solidFill>
                  <a:srgbClr val="1F418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Profile / achievements / records</a:t>
            </a:r>
            <a:endParaRPr lang="en-US" altLang="zh-CN" sz="1600" b="1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Image 4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7" name="Image 5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19" name="Picture 12" descr="8a7c0663-f7b2-4937-9eb5-b4aeb9d07c89_no_bg.png">
            <a:extLst>
              <a:ext uri="{FF2B5EF4-FFF2-40B4-BE49-F238E27FC236}">
                <a16:creationId xmlns:a16="http://schemas.microsoft.com/office/drawing/2014/main" id="{5D1F385F-AC28-4745-B997-B80C1721D6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A07F080-2D4D-42AB-852B-2C31E6AD2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325" y="1196629"/>
            <a:ext cx="2596486" cy="480210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A6FE7C7-1BD2-4504-8BAB-A00612E6BD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458" y="1213687"/>
            <a:ext cx="2549150" cy="47145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F796AB-C5A7-4D83-8A90-DD06373846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408" y="1196629"/>
            <a:ext cx="2603270" cy="48021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BBF0BC-FB60-43EE-8667-D2AFED021BE4}"/>
              </a:ext>
            </a:extLst>
          </p:cNvPr>
          <p:cNvSpPr txBox="1"/>
          <p:nvPr/>
        </p:nvSpPr>
        <p:spPr>
          <a:xfrm>
            <a:off x="11861800" y="6311900"/>
            <a:ext cx="208390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11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15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1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4" name="Image 2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64" name="Picture 12" descr="8a7c0663-f7b2-4937-9eb5-b4aeb9d07c89_no_bg.png">
            <a:extLst>
              <a:ext uri="{FF2B5EF4-FFF2-40B4-BE49-F238E27FC236}">
                <a16:creationId xmlns:a16="http://schemas.microsoft.com/office/drawing/2014/main" id="{13B75718-B9F8-4EBA-9B57-CC8EC6531D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077F681-07CD-4F53-BDAE-95A55D737748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Evaluation Against Objectives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2DF9D7-49DB-4C6D-9097-B50972FD450E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Most core goals were achieved; large-scale user evaluation remains future work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B3EFB85-1EDE-43D1-9B97-7D20BFC9E2E5}"/>
              </a:ext>
            </a:extLst>
          </p:cNvPr>
          <p:cNvSpPr/>
          <p:nvPr/>
        </p:nvSpPr>
        <p:spPr>
          <a:xfrm>
            <a:off x="889000" y="1270000"/>
            <a:ext cx="5842000" cy="3619500"/>
          </a:xfrm>
          <a:prstGeom prst="roundRect">
            <a:avLst/>
          </a:prstGeom>
          <a:solidFill>
            <a:srgbClr val="ECF3FC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3087E4-2779-422F-9762-30ED4FCEFACF}"/>
              </a:ext>
            </a:extLst>
          </p:cNvPr>
          <p:cNvSpPr/>
          <p:nvPr/>
        </p:nvSpPr>
        <p:spPr>
          <a:xfrm>
            <a:off x="1270000" y="1092200"/>
            <a:ext cx="2159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Objective status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DB12028-ACDB-4157-838A-EA162195AB54}"/>
              </a:ext>
            </a:extLst>
          </p:cNvPr>
          <p:cNvSpPr/>
          <p:nvPr/>
        </p:nvSpPr>
        <p:spPr>
          <a:xfrm>
            <a:off x="1320800" y="1676400"/>
            <a:ext cx="45720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A43A92-D575-443B-9861-3691736C645F}"/>
              </a:ext>
            </a:extLst>
          </p:cNvPr>
          <p:cNvSpPr txBox="1"/>
          <p:nvPr/>
        </p:nvSpPr>
        <p:spPr>
          <a:xfrm>
            <a:off x="1524000" y="1725136"/>
            <a:ext cx="3302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550">
                <a:solidFill>
                  <a:srgbClr val="1F4180"/>
                </a:solidFill>
                <a:latin typeface="Arial" panose="020B0604020202020204" pitchFamily="34" charset="0"/>
              </a:rPr>
              <a:t>Native Android architecture</a:t>
            </a:r>
            <a:endParaRPr lang="zh-CN" altLang="en-US" sz="155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FD628D5-F198-4744-8751-E7D13AB64A54}"/>
              </a:ext>
            </a:extLst>
          </p:cNvPr>
          <p:cNvSpPr/>
          <p:nvPr/>
        </p:nvSpPr>
        <p:spPr>
          <a:xfrm>
            <a:off x="4978400" y="1739900"/>
            <a:ext cx="736600" cy="2794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1F4180"/>
                </a:solidFill>
                <a:latin typeface="Arial" panose="020B0604020202020204" pitchFamily="34" charset="0"/>
              </a:rPr>
              <a:t>Done</a:t>
            </a:r>
            <a:endParaRPr lang="zh-CN" altLang="en-US" sz="12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B55C98-AA38-4EB1-A830-0D004A2B4A71}"/>
              </a:ext>
            </a:extLst>
          </p:cNvPr>
          <p:cNvSpPr/>
          <p:nvPr/>
        </p:nvSpPr>
        <p:spPr>
          <a:xfrm>
            <a:off x="1320800" y="2260600"/>
            <a:ext cx="45720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0915D7-CCB8-4E7F-A06B-C584547580D4}"/>
              </a:ext>
            </a:extLst>
          </p:cNvPr>
          <p:cNvSpPr txBox="1"/>
          <p:nvPr/>
        </p:nvSpPr>
        <p:spPr>
          <a:xfrm>
            <a:off x="1524000" y="2297668"/>
            <a:ext cx="3302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550" dirty="0">
                <a:solidFill>
                  <a:srgbClr val="1F4180"/>
                </a:solidFill>
                <a:latin typeface="Arial" panose="020B0604020202020204" pitchFamily="34" charset="0"/>
              </a:rPr>
              <a:t>Three educational mini-games</a:t>
            </a:r>
            <a:endParaRPr lang="zh-CN" altLang="en-US" sz="15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3BD16D4-912A-40DB-87A6-9FC0E6AC1CFA}"/>
              </a:ext>
            </a:extLst>
          </p:cNvPr>
          <p:cNvSpPr/>
          <p:nvPr/>
        </p:nvSpPr>
        <p:spPr>
          <a:xfrm>
            <a:off x="4978400" y="2324100"/>
            <a:ext cx="736600" cy="2794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1F4180"/>
                </a:solidFill>
                <a:latin typeface="Arial" panose="020B0604020202020204" pitchFamily="34" charset="0"/>
              </a:rPr>
              <a:t>Done</a:t>
            </a:r>
            <a:endParaRPr lang="zh-CN" altLang="en-US" sz="12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BCB39E8-C6E6-43D4-9913-87537208373E}"/>
              </a:ext>
            </a:extLst>
          </p:cNvPr>
          <p:cNvSpPr/>
          <p:nvPr/>
        </p:nvSpPr>
        <p:spPr>
          <a:xfrm>
            <a:off x="1320800" y="2844800"/>
            <a:ext cx="45720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10BDF71-9BDF-4193-91D7-0F04A771E480}"/>
              </a:ext>
            </a:extLst>
          </p:cNvPr>
          <p:cNvSpPr txBox="1"/>
          <p:nvPr/>
        </p:nvSpPr>
        <p:spPr>
          <a:xfrm>
            <a:off x="1524000" y="2901373"/>
            <a:ext cx="3302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550" dirty="0">
                <a:solidFill>
                  <a:srgbClr val="1F4180"/>
                </a:solidFill>
                <a:latin typeface="Arial" panose="020B0604020202020204" pitchFamily="34" charset="0"/>
              </a:rPr>
              <a:t>SQLite + JSON content pipeline</a:t>
            </a:r>
            <a:endParaRPr lang="zh-CN" altLang="en-US" sz="15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B62938C-F89C-4EBB-AAA2-6A82D7CE6FCB}"/>
              </a:ext>
            </a:extLst>
          </p:cNvPr>
          <p:cNvSpPr/>
          <p:nvPr/>
        </p:nvSpPr>
        <p:spPr>
          <a:xfrm>
            <a:off x="4978400" y="2908300"/>
            <a:ext cx="736600" cy="2794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1F4180"/>
                </a:solidFill>
                <a:latin typeface="Arial" panose="020B0604020202020204" pitchFamily="34" charset="0"/>
              </a:rPr>
              <a:t>Done</a:t>
            </a:r>
            <a:endParaRPr lang="zh-CN" altLang="en-US" sz="12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883D5F6-D0E7-4B76-8508-B89AA0B89AFA}"/>
              </a:ext>
            </a:extLst>
          </p:cNvPr>
          <p:cNvSpPr/>
          <p:nvPr/>
        </p:nvSpPr>
        <p:spPr>
          <a:xfrm>
            <a:off x="1320800" y="3429000"/>
            <a:ext cx="45720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B1978B8-AD97-4649-9272-7167A943963A}"/>
              </a:ext>
            </a:extLst>
          </p:cNvPr>
          <p:cNvSpPr txBox="1"/>
          <p:nvPr/>
        </p:nvSpPr>
        <p:spPr>
          <a:xfrm>
            <a:off x="1600200" y="3518937"/>
            <a:ext cx="3302000" cy="646331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noAutofit/>
          </a:bodyPr>
          <a:lstStyle/>
          <a:p>
            <a:r>
              <a:rPr lang="en-US" altLang="zh-CN" sz="1550" dirty="0">
                <a:solidFill>
                  <a:srgbClr val="1F4180"/>
                </a:solidFill>
                <a:latin typeface="Arial" panose="020B0604020202020204" pitchFamily="34" charset="0"/>
              </a:rPr>
              <a:t>Progress + achievements</a:t>
            </a:r>
            <a:endParaRPr lang="zh-CN" altLang="en-US" sz="15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05351C0-099C-4891-8BA7-6F5B5C817C04}"/>
              </a:ext>
            </a:extLst>
          </p:cNvPr>
          <p:cNvSpPr/>
          <p:nvPr/>
        </p:nvSpPr>
        <p:spPr>
          <a:xfrm>
            <a:off x="4978400" y="3492500"/>
            <a:ext cx="736600" cy="2794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1F4180"/>
                </a:solidFill>
                <a:latin typeface="Arial" panose="020B0604020202020204" pitchFamily="34" charset="0"/>
              </a:rPr>
              <a:t>Done</a:t>
            </a:r>
            <a:endParaRPr lang="zh-CN" altLang="en-US" sz="12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E446CAD-72B5-4990-B07E-5976E5AA0252}"/>
              </a:ext>
            </a:extLst>
          </p:cNvPr>
          <p:cNvSpPr/>
          <p:nvPr/>
        </p:nvSpPr>
        <p:spPr>
          <a:xfrm>
            <a:off x="1320800" y="4013200"/>
            <a:ext cx="45720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17CAF10-A909-45F7-B0BC-75701AFE5333}"/>
              </a:ext>
            </a:extLst>
          </p:cNvPr>
          <p:cNvSpPr txBox="1"/>
          <p:nvPr/>
        </p:nvSpPr>
        <p:spPr>
          <a:xfrm>
            <a:off x="1524000" y="4081213"/>
            <a:ext cx="3302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550" dirty="0">
                <a:solidFill>
                  <a:srgbClr val="1F4180"/>
                </a:solidFill>
                <a:latin typeface="Arial" panose="020B0604020202020204" pitchFamily="34" charset="0"/>
              </a:rPr>
              <a:t>Speech evaluation prototype</a:t>
            </a:r>
            <a:endParaRPr lang="zh-CN" altLang="en-US" sz="1550" dirty="0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4A5203A-22CC-4400-A7DA-AB5D8DFD39A5}"/>
              </a:ext>
            </a:extLst>
          </p:cNvPr>
          <p:cNvSpPr/>
          <p:nvPr/>
        </p:nvSpPr>
        <p:spPr>
          <a:xfrm>
            <a:off x="4978400" y="4076700"/>
            <a:ext cx="736600" cy="2794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1F4180"/>
                </a:solidFill>
                <a:latin typeface="Arial" panose="020B0604020202020204" pitchFamily="34" charset="0"/>
              </a:rPr>
              <a:t>Done</a:t>
            </a:r>
            <a:endParaRPr lang="zh-CN" altLang="en-US" sz="125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49D8742-4573-4589-A9D7-2D5936CEC31A}"/>
              </a:ext>
            </a:extLst>
          </p:cNvPr>
          <p:cNvSpPr/>
          <p:nvPr/>
        </p:nvSpPr>
        <p:spPr>
          <a:xfrm>
            <a:off x="7213600" y="1270000"/>
            <a:ext cx="4064000" cy="36195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7F73227-4902-422D-B12D-74A8CC9F3729}"/>
              </a:ext>
            </a:extLst>
          </p:cNvPr>
          <p:cNvSpPr/>
          <p:nvPr/>
        </p:nvSpPr>
        <p:spPr>
          <a:xfrm>
            <a:off x="7569200" y="1092200"/>
            <a:ext cx="1905000" cy="355600"/>
          </a:xfrm>
          <a:prstGeom prst="roundRect">
            <a:avLst/>
          </a:prstGeom>
          <a:solidFill>
            <a:srgbClr val="E1F6F8"/>
          </a:solidFill>
          <a:ln w="14605">
            <a:solidFill>
              <a:srgbClr val="B7D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Key takeaways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F09BCE5-385C-4D85-AB63-F539B8D2968D}"/>
              </a:ext>
            </a:extLst>
          </p:cNvPr>
          <p:cNvSpPr txBox="1"/>
          <p:nvPr/>
        </p:nvSpPr>
        <p:spPr>
          <a:xfrm>
            <a:off x="7620000" y="1676400"/>
            <a:ext cx="3124200" cy="2585323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Complete learner workflow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Strongest evidence: integration, persistence, and speech workflow</a:t>
            </a:r>
          </a:p>
          <a:p>
            <a:endParaRPr lang="en-US" altLang="zh-CN">
              <a:solidFill>
                <a:srgbClr val="1F418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F4180"/>
                </a:solidFill>
                <a:latin typeface="Arial" panose="020B0604020202020204" pitchFamily="34" charset="0"/>
              </a:rPr>
              <a:t>• Evaluation is technical feasibility, not long-term learning impact</a:t>
            </a:r>
            <a:endParaRPr lang="zh-CN" altLang="en-US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08A5CD4-1443-4EE9-B5E9-41AB743BC210}"/>
              </a:ext>
            </a:extLst>
          </p:cNvPr>
          <p:cNvSpPr txBox="1"/>
          <p:nvPr/>
        </p:nvSpPr>
        <p:spPr>
          <a:xfrm>
            <a:off x="1524000" y="5334000"/>
            <a:ext cx="9144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700" b="1">
                <a:solidFill>
                  <a:srgbClr val="1F4180"/>
                </a:solidFill>
                <a:latin typeface="Arial" panose="020B0604020202020204" pitchFamily="34" charset="0"/>
              </a:rPr>
              <a:t>This is the main answer to the viva panel: the implementation matches the specification outcomes and demonstrates added value.</a:t>
            </a:r>
            <a:endParaRPr lang="zh-CN" altLang="en-US" sz="17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6E9581-6181-494B-BD9A-BA0C02BEFC19}"/>
              </a:ext>
            </a:extLst>
          </p:cNvPr>
          <p:cNvSpPr txBox="1"/>
          <p:nvPr/>
        </p:nvSpPr>
        <p:spPr>
          <a:xfrm>
            <a:off x="11861800" y="6311900"/>
            <a:ext cx="208390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12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5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pic>
        <p:nvPicPr>
          <p:cNvPr id="17" name="Picture 12" descr="8a7c0663-f7b2-4937-9eb5-b4aeb9d07c89_no_bg.png">
            <a:extLst>
              <a:ext uri="{FF2B5EF4-FFF2-40B4-BE49-F238E27FC236}">
                <a16:creationId xmlns:a16="http://schemas.microsoft.com/office/drawing/2014/main" id="{D3636918-74F8-4B37-850F-E72536824C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783" y="5504688"/>
            <a:ext cx="1143000" cy="1143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8C10780-76C8-40A0-8D78-0B67C9ED069C}"/>
              </a:ext>
            </a:extLst>
          </p:cNvPr>
          <p:cNvSpPr txBox="1"/>
          <p:nvPr/>
        </p:nvSpPr>
        <p:spPr>
          <a:xfrm>
            <a:off x="609600" y="254000"/>
            <a:ext cx="109728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1F4180"/>
                </a:solidFill>
                <a:latin typeface="Arial" panose="020B0604020202020204" pitchFamily="34" charset="0"/>
              </a:rPr>
              <a:t>Limitations and Future Work</a:t>
            </a:r>
            <a:endParaRPr lang="zh-CN" altLang="en-US" sz="26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91E967-0238-4913-8A7C-EF7D5934EBCC}"/>
              </a:ext>
            </a:extLst>
          </p:cNvPr>
          <p:cNvSpPr txBox="1"/>
          <p:nvPr/>
        </p:nvSpPr>
        <p:spPr>
          <a:xfrm>
            <a:off x="1016000" y="711200"/>
            <a:ext cx="10160000" cy="36933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350">
                <a:solidFill>
                  <a:srgbClr val="536482"/>
                </a:solidFill>
                <a:latin typeface="Arial" panose="020B0604020202020204" pitchFamily="34" charset="0"/>
              </a:rPr>
              <a:t>The prototype is credible, but it is not a finished commercial product</a:t>
            </a:r>
            <a:endParaRPr lang="zh-CN" altLang="en-US" sz="1350">
              <a:solidFill>
                <a:srgbClr val="536482"/>
              </a:solidFill>
              <a:latin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7532211-973A-4BFD-BD49-F96FC6C15553}"/>
              </a:ext>
            </a:extLst>
          </p:cNvPr>
          <p:cNvSpPr/>
          <p:nvPr/>
        </p:nvSpPr>
        <p:spPr>
          <a:xfrm>
            <a:off x="889000" y="1422400"/>
            <a:ext cx="4953000" cy="3429000"/>
          </a:xfrm>
          <a:prstGeom prst="roundRect">
            <a:avLst/>
          </a:prstGeom>
          <a:solidFill>
            <a:srgbClr val="FFF0F0"/>
          </a:solidFill>
          <a:ln w="14605">
            <a:solidFill>
              <a:srgbClr val="F0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9116EF0-2C86-4552-A38E-92D3ADE9CF9D}"/>
              </a:ext>
            </a:extLst>
          </p:cNvPr>
          <p:cNvSpPr/>
          <p:nvPr/>
        </p:nvSpPr>
        <p:spPr>
          <a:xfrm>
            <a:off x="1270000" y="1219200"/>
            <a:ext cx="1778000" cy="355600"/>
          </a:xfrm>
          <a:prstGeom prst="roundRect">
            <a:avLst/>
          </a:prstGeom>
          <a:solidFill>
            <a:srgbClr val="FFE4E4"/>
          </a:solidFill>
          <a:ln w="14605">
            <a:solidFill>
              <a:srgbClr val="F0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Limitations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0E9B01-8252-4CC3-9BF6-C3A1450B42AE}"/>
              </a:ext>
            </a:extLst>
          </p:cNvPr>
          <p:cNvSpPr txBox="1"/>
          <p:nvPr/>
        </p:nvSpPr>
        <p:spPr>
          <a:xfrm>
            <a:off x="1320800" y="1905000"/>
            <a:ext cx="3810000" cy="23083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8C3636"/>
                </a:solidFill>
                <a:latin typeface="Arial" panose="020B0604020202020204" pitchFamily="34" charset="0"/>
              </a:rPr>
              <a:t>• Local-only storage</a:t>
            </a:r>
          </a:p>
          <a:p>
            <a:endParaRPr lang="en-US" altLang="zh-CN">
              <a:solidFill>
                <a:srgbClr val="8C3636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8C3636"/>
                </a:solidFill>
                <a:latin typeface="Arial" panose="020B0604020202020204" pitchFamily="34" charset="0"/>
              </a:rPr>
              <a:t>• Pronunciation depends on device, noise, and external service behaviour</a:t>
            </a:r>
          </a:p>
          <a:p>
            <a:endParaRPr lang="en-US" altLang="zh-CN">
              <a:solidFill>
                <a:srgbClr val="8C3636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8C3636"/>
                </a:solidFill>
                <a:latin typeface="Arial" panose="020B0604020202020204" pitchFamily="34" charset="0"/>
              </a:rPr>
              <a:t>• Dataset quality affects distractors and sentence tasks</a:t>
            </a:r>
            <a:endParaRPr lang="zh-CN" altLang="en-US">
              <a:solidFill>
                <a:srgbClr val="8C3636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00AF72C-13AD-4574-A2C3-B68F23FFF09C}"/>
              </a:ext>
            </a:extLst>
          </p:cNvPr>
          <p:cNvSpPr/>
          <p:nvPr/>
        </p:nvSpPr>
        <p:spPr>
          <a:xfrm>
            <a:off x="6350000" y="1422400"/>
            <a:ext cx="4953000" cy="3429000"/>
          </a:xfrm>
          <a:prstGeom prst="roundRect">
            <a:avLst/>
          </a:prstGeom>
          <a:solidFill>
            <a:srgbClr val="F0FAE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256DAD2-1C5D-4033-86AC-83FE83907B74}"/>
              </a:ext>
            </a:extLst>
          </p:cNvPr>
          <p:cNvSpPr/>
          <p:nvPr/>
        </p:nvSpPr>
        <p:spPr>
          <a:xfrm>
            <a:off x="6731000" y="1219200"/>
            <a:ext cx="1778000" cy="355600"/>
          </a:xfrm>
          <a:prstGeom prst="roundRect">
            <a:avLst/>
          </a:prstGeom>
          <a:solidFill>
            <a:srgbClr val="E4F6DE"/>
          </a:solidFill>
          <a:ln w="14605">
            <a:solidFill>
              <a:srgbClr val="B4D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1F4180"/>
                </a:solidFill>
                <a:latin typeface="Arial" panose="020B0604020202020204" pitchFamily="34" charset="0"/>
              </a:rPr>
              <a:t>Future work</a:t>
            </a:r>
            <a:endParaRPr lang="zh-CN" altLang="en-US" sz="1500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8769FAF-D113-40EC-9354-62D39C8B97E2}"/>
              </a:ext>
            </a:extLst>
          </p:cNvPr>
          <p:cNvSpPr txBox="1"/>
          <p:nvPr/>
        </p:nvSpPr>
        <p:spPr>
          <a:xfrm>
            <a:off x="6781800" y="1905000"/>
            <a:ext cx="3810000" cy="23083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>
                <a:solidFill>
                  <a:srgbClr val="3C762C"/>
                </a:solidFill>
                <a:latin typeface="Arial" panose="020B0604020202020204" pitchFamily="34" charset="0"/>
              </a:rPr>
              <a:t>• Cloud account sync</a:t>
            </a:r>
          </a:p>
          <a:p>
            <a:endParaRPr lang="en-US" altLang="zh-CN">
              <a:solidFill>
                <a:srgbClr val="3C762C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3C762C"/>
                </a:solidFill>
                <a:latin typeface="Arial" panose="020B0604020202020204" pitchFamily="34" charset="0"/>
              </a:rPr>
              <a:t>• Richer pronunciation feedback</a:t>
            </a:r>
          </a:p>
          <a:p>
            <a:endParaRPr lang="en-US" altLang="zh-CN">
              <a:solidFill>
                <a:srgbClr val="3C762C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3C762C"/>
                </a:solidFill>
                <a:latin typeface="Arial" panose="020B0604020202020204" pitchFamily="34" charset="0"/>
              </a:rPr>
              <a:t>• Stronger Word Puzzle difficulty modelling</a:t>
            </a:r>
          </a:p>
          <a:p>
            <a:endParaRPr lang="en-US" altLang="zh-CN">
              <a:solidFill>
                <a:srgbClr val="3C762C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3C762C"/>
                </a:solidFill>
                <a:latin typeface="Arial" panose="020B0604020202020204" pitchFamily="34" charset="0"/>
              </a:rPr>
              <a:t>• Larger user study</a:t>
            </a:r>
            <a:endParaRPr lang="zh-CN" altLang="en-US">
              <a:solidFill>
                <a:srgbClr val="3C762C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41654F-A277-4F30-8A71-EFC6C12EFAEF}"/>
              </a:ext>
            </a:extLst>
          </p:cNvPr>
          <p:cNvSpPr txBox="1"/>
          <p:nvPr/>
        </p:nvSpPr>
        <p:spPr>
          <a:xfrm>
            <a:off x="2222500" y="5334000"/>
            <a:ext cx="7747000" cy="64633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b="1">
                <a:solidFill>
                  <a:srgbClr val="1F4180"/>
                </a:solidFill>
                <a:latin typeface="Arial" panose="020B0604020202020204" pitchFamily="34" charset="0"/>
              </a:rPr>
              <a:t>Positioning: a strong integrated prototype and a clear foundation for extension.</a:t>
            </a:r>
            <a:endParaRPr lang="zh-CN" altLang="en-US" b="1">
              <a:solidFill>
                <a:srgbClr val="1F418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FD4C97-220F-4BB7-88A9-C8F448C13289}"/>
              </a:ext>
            </a:extLst>
          </p:cNvPr>
          <p:cNvSpPr txBox="1"/>
          <p:nvPr/>
        </p:nvSpPr>
        <p:spPr>
          <a:xfrm>
            <a:off x="11861800" y="6311900"/>
            <a:ext cx="208390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13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4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11880" y="2066544"/>
            <a:ext cx="4983480" cy="502920"/>
          </a:xfrm>
          <a:prstGeom prst="rect">
            <a:avLst/>
          </a:prstGeom>
          <a:noFill/>
          <a:ln/>
        </p:spPr>
        <p:txBody>
          <a:bodyPr wrap="none" lIns="25400" tIns="12700" rIns="25400" bIns="12700" rtlCol="0" anchor="ctr">
            <a:noAutofit/>
          </a:bodyPr>
          <a:lstStyle/>
          <a:p>
            <a:pPr marL="0" indent="0" algn="ctr">
              <a:buNone/>
            </a:pP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12464" y="2670048"/>
            <a:ext cx="4754880" cy="219456"/>
          </a:xfrm>
          <a:prstGeom prst="rect">
            <a:avLst/>
          </a:prstGeom>
          <a:noFill/>
          <a:ln/>
        </p:spPr>
        <p:txBody>
          <a:bodyPr wrap="none" lIns="25400" tIns="12700" rIns="25400" bIns="12700" rtlCol="0" anchor="ctr">
            <a:no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0" descr="/mnt/data/work/q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4901184"/>
            <a:ext cx="2953512" cy="9326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08A694-39C1-44C8-B9E8-3A6E8EBBC393}"/>
              </a:ext>
            </a:extLst>
          </p:cNvPr>
          <p:cNvSpPr txBox="1"/>
          <p:nvPr/>
        </p:nvSpPr>
        <p:spPr>
          <a:xfrm>
            <a:off x="11861800" y="6311900"/>
            <a:ext cx="208390" cy="194925"/>
          </a:xfrm>
          <a:prstGeom prst="rect">
            <a:avLst/>
          </a:prstGeom>
          <a:noFill/>
        </p:spPr>
        <p:txBody>
          <a:bodyPr vert="horz" wrap="none" lIns="25400" tIns="12700" rIns="25400" bIns="127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Arial" panose="020B0604020202020204" pitchFamily="34" charset="0"/>
              </a:rPr>
              <a:t>14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887</Words>
  <Application>Microsoft Office PowerPoint</Application>
  <PresentationFormat>宽屏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CatLingo: Android Chinese Words Game App</dc:title>
  <dc:subject>CatLingo undergraduate project defense</dc:subject>
  <dc:creator>OpenAI</dc:creator>
  <cp:lastModifiedBy>Weiliang Liu</cp:lastModifiedBy>
  <cp:revision>26</cp:revision>
  <dcterms:created xsi:type="dcterms:W3CDTF">2026-04-19T19:37:26Z</dcterms:created>
  <dcterms:modified xsi:type="dcterms:W3CDTF">2026-05-04T04:29:55Z</dcterms:modified>
</cp:coreProperties>
</file>